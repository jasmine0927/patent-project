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72" r:id="rId3"/>
    <p:sldId id="273" r:id="rId4"/>
    <p:sldId id="274" r:id="rId5"/>
    <p:sldId id="257" r:id="rId6"/>
    <p:sldId id="267" r:id="rId7"/>
    <p:sldId id="258" r:id="rId8"/>
    <p:sldId id="259" r:id="rId9"/>
    <p:sldId id="260" r:id="rId10"/>
    <p:sldId id="261" r:id="rId11"/>
    <p:sldId id="263" r:id="rId12"/>
    <p:sldId id="269" r:id="rId13"/>
    <p:sldId id="270" r:id="rId14"/>
    <p:sldId id="262" r:id="rId15"/>
    <p:sldId id="264" r:id="rId16"/>
    <p:sldId id="265" r:id="rId17"/>
    <p:sldId id="266" r:id="rId18"/>
    <p:sldId id="268" r:id="rId19"/>
    <p:sldId id="271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4B76E-B62E-4812-BA7D-825654688684}"/>
              </a:ext>
            </a:extLst>
          </p:cNvPr>
          <p:cNvSpPr/>
          <p:nvPr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F05D1-197A-4EB5-A82C-7DC2425B571D}"/>
              </a:ext>
            </a:extLst>
          </p:cNvPr>
          <p:cNvSpPr/>
          <p:nvPr/>
        </p:nvSpPr>
        <p:spPr>
          <a:xfrm>
            <a:off x="639413" y="2818150"/>
            <a:ext cx="10913175" cy="25718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FFE35-CB40-419E-BEDE-1E852C7CC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24" y="3154680"/>
            <a:ext cx="9994392" cy="1335024"/>
          </a:xfrm>
        </p:spPr>
        <p:txBody>
          <a:bodyPr lIns="109728" tIns="109728" rIns="109728" bIns="91440" anchor="b">
            <a:normAutofit/>
          </a:bodyPr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66B81-8E0E-4B31-9B8A-AD8615CF5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184" y="4489704"/>
            <a:ext cx="10009632" cy="768096"/>
          </a:xfrm>
        </p:spPr>
        <p:txBody>
          <a:bodyPr lIns="109728" tIns="109728" rIns="109728" bIns="91440" anchor="ctr"/>
          <a:lstStyle>
            <a:lvl1pPr marL="0" indent="0" algn="l">
              <a:buNone/>
              <a:defRPr sz="24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E3122-8086-4B62-A94B-822FD6B4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18AD-F44F-484C-A3D2-C5EF8D94DE24}" type="datetime1">
              <a:rPr lang="en-US" smtClean="0"/>
              <a:t>4/25/2024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9890-8F9E-40E4-9E32-1481709B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C4A2E-05AC-44E3-B11A-086CA906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B81F-97CD-4934-852B-F0AECFD0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3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99A3-430D-4D78-9DF7-56578715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B09F0-EED8-49A3-8DEB-65D7E568F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33971-B6D0-433D-83AE-34616CE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0D2D1-B868-4347-B796-3B5A5EB129FF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CA778-7EAA-41F9-B37D-C8E67AE7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7F5B-F40C-4ECA-9FD3-760EAA21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79C4-5B2D-490C-A3A9-EB977CFA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1709738"/>
            <a:ext cx="10913175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D5857-FA4D-4A9B-856D-701234DE6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3" y="4589463"/>
            <a:ext cx="1091317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7F6E9-7983-40C8-AB5B-67D364A5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03C2D-6745-47B6-A29E-FE249DBCE96C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F873F-0C78-4B75-A7F3-78AAA381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F4A66-FCCD-4CC0-955A-6FF62FEC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7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A81E-979B-46D7-9D93-0797856A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3245F-4511-4B93-8CB3-0EC22FD62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413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029B-9D0E-4CB2-9A69-10A2F8C12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22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89C47-F724-4908-A6AD-806E765B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244C2-3623-4BFB-B9A0-94542302335A}" type="datetime1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700E8-4086-4363-88E6-CA24CE39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4F54F-F3CE-42F0-ADD3-F174B9BB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5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BAB1-26FD-44BF-86E8-57ED04D7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5488"/>
            <a:ext cx="10908792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CB96-93C7-4E74-8285-0327A1A26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2" y="1904474"/>
            <a:ext cx="5120640" cy="838726"/>
          </a:xfrm>
        </p:spPr>
        <p:txBody>
          <a:bodyPr anchor="b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DF5A1-7F2F-4B53-9402-85306B933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413" y="2969917"/>
            <a:ext cx="5157787" cy="3219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75651-3077-40D2-B167-CAB37859E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7565" y="1904474"/>
            <a:ext cx="5120640" cy="83872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D45EC-3B0F-49DC-91BC-2B4E4DA04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7565" y="2969915"/>
            <a:ext cx="5120639" cy="3219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B7364-544C-427F-8C26-40E48F77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3B92-D160-4899-8AEB-23E2AB3EBB07}" type="datetime1">
              <a:rPr lang="en-US" smtClean="0"/>
              <a:t>4/25/2024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7AF57-EA04-49AA-91E0-7393B8DB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A6F2-A8DC-49B2-B9D6-7A001FF3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567CAD-C446-4819-8D43-D93D35E7998F}"/>
              </a:ext>
            </a:extLst>
          </p:cNvPr>
          <p:cNvCxnSpPr>
            <a:cxnSpLocks/>
          </p:cNvCxnSpPr>
          <p:nvPr/>
        </p:nvCxnSpPr>
        <p:spPr>
          <a:xfrm>
            <a:off x="6096000" y="1613647"/>
            <a:ext cx="0" cy="4515986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44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9AB5-A960-4D82-97A6-922633B7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FEF6C-EDD1-4573-A6D1-D5582457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71B3-2886-4196-8AEE-F25AFF1977D5}" type="datetime1">
              <a:rPr lang="en-US" smtClean="0"/>
              <a:t>4/25/2024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8429F-6359-4950-8C39-80E03A2D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B98F5-EE2F-4214-975A-76719DBD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6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39CD7-DA28-4950-958A-9781728C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A954-8CB7-411C-B9F4-2C7BBA3637E7}" type="datetime1">
              <a:rPr lang="en-US" smtClean="0"/>
              <a:t>4/25/2024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345F2-29FF-4A4D-A577-8FED65D0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6B79A-87C1-4CB8-BC9B-8705CEC4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3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01454-EF5C-4D4A-95D3-B320D15C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5488"/>
            <a:ext cx="10908792" cy="685800"/>
          </a:xfrm>
        </p:spPr>
        <p:txBody>
          <a:bodyPr anchor="ctr"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7D4B9-4A42-478A-AEFB-3F5D0629F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1656589"/>
            <a:ext cx="6245352" cy="420446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2F622-E127-4877-8F61-E5FAE62CD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414" y="1656588"/>
            <a:ext cx="4132612" cy="4212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3E8C1-6159-4F82-A5F4-35DDE51E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446A-20B5-4264-B561-E7D9C581BFC4}" type="datetime1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C603F-9904-472E-86B9-D7223CAB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0828B-5598-4BB2-9FC6-86BDC5EC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6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E4FD-3561-45A0-82BC-1E0F7399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5488"/>
            <a:ext cx="10908792" cy="68580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19FD7-F525-433A-BC5B-E8251F514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45666"/>
            <a:ext cx="6365684" cy="4215384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CAD49-8534-4DA7-91E6-D2827CBEB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414" y="1655064"/>
            <a:ext cx="4132612" cy="42153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F16CE-96E3-44EC-B9C8-F7FEDA17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4C44C-94B9-4BA1-95A5-21C59D41B284}" type="datetime1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4BBD5-FCB5-45FF-A806-445007BA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43AF2-82EC-4A16-9E91-742792F0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13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AAC2-5C8E-4AC4-A655-1BBB12DE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DEA25-8853-4480-B177-F6FB3A913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30C9A-FAAB-4907-9074-ED83F291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897D3-3687-4972-B93C-3CFDF36BF9D2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E74C0-6AA6-4DAA-B696-21A593BF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C47E9-9A55-415E-8340-5E2B5BD2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E48E5-4047-441F-8F68-CAA0E5D31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9413" y="365125"/>
            <a:ext cx="793308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2861A-99E0-4DD2-8956-9C3A8BCA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AA46-D730-4A32-BF6D-5880ED7B6ED6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F9A7-D5EB-4CB0-ADF9-A2D67864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34A46-E778-48F1-85FB-88A26059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87D44-2EFA-42B2-8345-F3CB14FC8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82768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46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E79F0E-E6F3-4029-A461-CBE56588470B}"/>
              </a:ext>
            </a:extLst>
          </p:cNvPr>
          <p:cNvSpPr/>
          <p:nvPr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5D58A2-1B1F-4DF4-936E-885ECC73E6F0}"/>
              </a:ext>
            </a:extLst>
          </p:cNvPr>
          <p:cNvSpPr/>
          <p:nvPr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9B9AA-BDD3-49A4-84E0-99DC3EF1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B1D57-5959-4202-BB86-AFBA794FA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2" y="1639615"/>
            <a:ext cx="10904435" cy="4537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E3D2-19DD-4BA8-81DE-A095DB31E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262A92C-3DD6-4D28-BA90-423F0C949F16}" type="datetime1">
              <a:rPr lang="en-US" smtClean="0"/>
              <a:t>4/25/2024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2D90-3DF7-4BB4-808C-F89E35410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76974-1464-4D58-B215-633005776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20EFF4B-E35B-4DE6-97A9-05E54E649A1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04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hf sldNum="0"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400" b="1" kern="1200" spc="150" baseline="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500"/>
        </a:spcBef>
        <a:buClr>
          <a:schemeClr val="accent2"/>
        </a:buClr>
        <a:buFontTx/>
        <a:buNone/>
        <a:defRPr sz="1500" b="1" kern="1200" spc="15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500" kern="1200" spc="15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55B289C-FFBC-4DA1-9048-5AB172C33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7EF0A-A2C2-63B6-2E9D-5C3551DBC4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84" r="14821" b="-1"/>
          <a:stretch/>
        </p:blipFill>
        <p:spPr>
          <a:xfrm>
            <a:off x="20" y="1450"/>
            <a:ext cx="6095980" cy="68551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9819350-82D4-404F-8D7E-92AD1DBC5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523" y="914400"/>
            <a:ext cx="6094477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0F3168-91D5-4F97-8256-506351938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8868" y="2818150"/>
            <a:ext cx="6769707" cy="25718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9278DD7-00ED-6B96-ADEC-861851049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6262" y="2971800"/>
            <a:ext cx="6320378" cy="1871330"/>
          </a:xfrm>
        </p:spPr>
        <p:txBody>
          <a:bodyPr anchor="b"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專利檢索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A5CBA5-B6BB-2892-AA4C-D561F98C9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7179" y="4657063"/>
            <a:ext cx="6250985" cy="648583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1116210</a:t>
            </a:r>
            <a:r>
              <a:rPr lang="zh-TW" altLang="en-US" sz="2000" dirty="0"/>
              <a:t>傅怡萱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94A07D-727F-432B-912F-DF0974DDE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8868" y="5389963"/>
            <a:ext cx="6769707" cy="1645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4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E2353F-3EA0-9FC2-23BE-D2836C5E3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檢索流程圖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4AC3535-D092-A900-2C74-D893619CECBC}"/>
              </a:ext>
            </a:extLst>
          </p:cNvPr>
          <p:cNvSpPr/>
          <p:nvPr/>
        </p:nvSpPr>
        <p:spPr>
          <a:xfrm>
            <a:off x="137714" y="3429000"/>
            <a:ext cx="1437441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關鍵字</a:t>
            </a:r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80764E48-F780-9D3B-179F-A6E609638D08}"/>
              </a:ext>
            </a:extLst>
          </p:cNvPr>
          <p:cNvSpPr/>
          <p:nvPr/>
        </p:nvSpPr>
        <p:spPr>
          <a:xfrm>
            <a:off x="1753845" y="3678766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48C5D87-6B03-9EC7-EAA6-0323766345E2}"/>
              </a:ext>
            </a:extLst>
          </p:cNvPr>
          <p:cNvSpPr/>
          <p:nvPr/>
        </p:nvSpPr>
        <p:spPr>
          <a:xfrm>
            <a:off x="2455897" y="3429000"/>
            <a:ext cx="1437441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endParaRPr lang="zh-TW" altLang="en-US" sz="24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3C00F944-1C3E-9CBE-2EC6-236509EDBABA}"/>
              </a:ext>
            </a:extLst>
          </p:cNvPr>
          <p:cNvSpPr/>
          <p:nvPr/>
        </p:nvSpPr>
        <p:spPr>
          <a:xfrm>
            <a:off x="4009446" y="3671614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B226128-1740-D7A8-7757-7C15341EED5A}"/>
              </a:ext>
            </a:extLst>
          </p:cNvPr>
          <p:cNvSpPr/>
          <p:nvPr/>
        </p:nvSpPr>
        <p:spPr>
          <a:xfrm>
            <a:off x="4700420" y="3460962"/>
            <a:ext cx="2430524" cy="68960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生成衍生關鍵字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DCCE7CEB-2CB6-8B6A-0A8A-3A96E9ABFAA9}"/>
              </a:ext>
            </a:extLst>
          </p:cNvPr>
          <p:cNvSpPr/>
          <p:nvPr/>
        </p:nvSpPr>
        <p:spPr>
          <a:xfrm>
            <a:off x="7262236" y="3678766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8B2CAA8-CBA3-9B3F-E4E9-8253E940899D}"/>
              </a:ext>
            </a:extLst>
          </p:cNvPr>
          <p:cNvSpPr/>
          <p:nvPr/>
        </p:nvSpPr>
        <p:spPr>
          <a:xfrm>
            <a:off x="7933830" y="3429000"/>
            <a:ext cx="1502445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GPSS</a:t>
            </a:r>
          </a:p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檢索專利</a:t>
            </a: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8F54FC6C-5A82-1B61-56EE-7E2BF24DA4F4}"/>
              </a:ext>
            </a:extLst>
          </p:cNvPr>
          <p:cNvSpPr/>
          <p:nvPr/>
        </p:nvSpPr>
        <p:spPr>
          <a:xfrm>
            <a:off x="9632569" y="3678766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D7BDBFE-3579-5F01-7A57-663D962E8BC7}"/>
              </a:ext>
            </a:extLst>
          </p:cNvPr>
          <p:cNvSpPr/>
          <p:nvPr/>
        </p:nvSpPr>
        <p:spPr>
          <a:xfrm>
            <a:off x="10304163" y="3429000"/>
            <a:ext cx="1820103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專利資料庫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1D67EC3-4934-3B5C-50F0-1DA9A080CA87}"/>
              </a:ext>
            </a:extLst>
          </p:cNvPr>
          <p:cNvSpPr txBox="1"/>
          <p:nvPr/>
        </p:nvSpPr>
        <p:spPr>
          <a:xfrm>
            <a:off x="4972893" y="4270783"/>
            <a:ext cx="14542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關鍵字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同義詞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上下詞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IPC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59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2BD293-B7AF-B557-790A-6969AD6F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比對流程圖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第一部分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BC78754-26F1-F435-191E-5BDC75BF0633}"/>
              </a:ext>
            </a:extLst>
          </p:cNvPr>
          <p:cNvSpPr/>
          <p:nvPr/>
        </p:nvSpPr>
        <p:spPr>
          <a:xfrm>
            <a:off x="197224" y="2566610"/>
            <a:ext cx="1547152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專利資料</a:t>
            </a:r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BBC90AC3-3326-EAEA-4852-2F3BF3664B04}"/>
              </a:ext>
            </a:extLst>
          </p:cNvPr>
          <p:cNvSpPr/>
          <p:nvPr/>
        </p:nvSpPr>
        <p:spPr>
          <a:xfrm>
            <a:off x="1881088" y="2816376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3FACC5F-B879-D080-5906-4D2321B56332}"/>
              </a:ext>
            </a:extLst>
          </p:cNvPr>
          <p:cNvSpPr/>
          <p:nvPr/>
        </p:nvSpPr>
        <p:spPr>
          <a:xfrm>
            <a:off x="2528051" y="2566609"/>
            <a:ext cx="1547152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vector</a:t>
            </a:r>
            <a:endParaRPr lang="zh-TW" altLang="en-US" sz="24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0808B0F7-F67E-79DA-DA3B-8AD16A88E24C}"/>
              </a:ext>
            </a:extLst>
          </p:cNvPr>
          <p:cNvSpPr/>
          <p:nvPr/>
        </p:nvSpPr>
        <p:spPr>
          <a:xfrm>
            <a:off x="4211915" y="2816376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65BDDC2-1D34-4197-B0AC-6908EE524423}"/>
              </a:ext>
            </a:extLst>
          </p:cNvPr>
          <p:cNvSpPr/>
          <p:nvPr/>
        </p:nvSpPr>
        <p:spPr>
          <a:xfrm>
            <a:off x="4858877" y="2566608"/>
            <a:ext cx="1830031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Vector</a:t>
            </a:r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DB</a:t>
            </a:r>
            <a:endParaRPr lang="zh-TW" altLang="en-US" sz="24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0D2D3C06-8E59-0A44-17F5-6E35AEFE9EF7}"/>
              </a:ext>
            </a:extLst>
          </p:cNvPr>
          <p:cNvSpPr/>
          <p:nvPr/>
        </p:nvSpPr>
        <p:spPr>
          <a:xfrm>
            <a:off x="6848543" y="2816376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43224ED-BFB2-027F-E304-6F57A0551D7D}"/>
              </a:ext>
            </a:extLst>
          </p:cNvPr>
          <p:cNvSpPr/>
          <p:nvPr/>
        </p:nvSpPr>
        <p:spPr>
          <a:xfrm>
            <a:off x="7386704" y="2566607"/>
            <a:ext cx="1515747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endParaRPr lang="zh-TW" altLang="en-US" sz="24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8FDDAE71-95EB-2E12-8D23-54020C4B7AB4}"/>
              </a:ext>
            </a:extLst>
          </p:cNvPr>
          <p:cNvSpPr/>
          <p:nvPr/>
        </p:nvSpPr>
        <p:spPr>
          <a:xfrm>
            <a:off x="9089996" y="2816376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36958E-F257-8F3A-283D-4064153FA59E}"/>
              </a:ext>
            </a:extLst>
          </p:cNvPr>
          <p:cNvSpPr/>
          <p:nvPr/>
        </p:nvSpPr>
        <p:spPr>
          <a:xfrm>
            <a:off x="9803409" y="2566606"/>
            <a:ext cx="1515747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口語提問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1E21DC8-3C4A-72F9-7991-B45C3F041887}"/>
              </a:ext>
            </a:extLst>
          </p:cNvPr>
          <p:cNvSpPr/>
          <p:nvPr/>
        </p:nvSpPr>
        <p:spPr>
          <a:xfrm rot="6913701">
            <a:off x="9916850" y="3777943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C0E4C57-615A-8186-C576-981F2B87DCCB}"/>
              </a:ext>
            </a:extLst>
          </p:cNvPr>
          <p:cNvSpPr/>
          <p:nvPr/>
        </p:nvSpPr>
        <p:spPr>
          <a:xfrm>
            <a:off x="8294637" y="4358977"/>
            <a:ext cx="2100967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呈現相關專利</a:t>
            </a: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BD2BA9BA-4E36-E0DE-EA18-029736B10306}"/>
              </a:ext>
            </a:extLst>
          </p:cNvPr>
          <p:cNvSpPr/>
          <p:nvPr/>
        </p:nvSpPr>
        <p:spPr>
          <a:xfrm rot="10800000">
            <a:off x="7547240" y="4631970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12E180B-BE20-6A2C-A5A3-5E4C7357F627}"/>
              </a:ext>
            </a:extLst>
          </p:cNvPr>
          <p:cNvSpPr/>
          <p:nvPr/>
        </p:nvSpPr>
        <p:spPr>
          <a:xfrm>
            <a:off x="5049855" y="4382203"/>
            <a:ext cx="2100967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檢索資料分群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824C1E9-1426-4F99-305D-1E371495720C}"/>
              </a:ext>
            </a:extLst>
          </p:cNvPr>
          <p:cNvSpPr txBox="1"/>
          <p:nvPr/>
        </p:nvSpPr>
        <p:spPr>
          <a:xfrm>
            <a:off x="10395603" y="3481978"/>
            <a:ext cx="1752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哪些專利與自己的專利相似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6118F94-6DFD-062F-036B-3874EC54BBB6}"/>
              </a:ext>
            </a:extLst>
          </p:cNvPr>
          <p:cNvSpPr txBox="1"/>
          <p:nvPr/>
        </p:nvSpPr>
        <p:spPr>
          <a:xfrm>
            <a:off x="7036577" y="5175620"/>
            <a:ext cx="17526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這些專利請分成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(X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自己填一個數字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985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E256C-C51E-BDDB-5E24-3800D964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比對流程圖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第二部分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D0FFDC40-085F-80C0-4D67-1E6DE98657A0}"/>
              </a:ext>
            </a:extLst>
          </p:cNvPr>
          <p:cNvSpPr/>
          <p:nvPr/>
        </p:nvSpPr>
        <p:spPr>
          <a:xfrm>
            <a:off x="2429727" y="2823028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DC70CA7-8C76-2AC9-CEC2-D8F09D1B84B5}"/>
              </a:ext>
            </a:extLst>
          </p:cNvPr>
          <p:cNvSpPr/>
          <p:nvPr/>
        </p:nvSpPr>
        <p:spPr>
          <a:xfrm>
            <a:off x="199180" y="2573261"/>
            <a:ext cx="2100967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原始專利資料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79E5BD4-AB9C-4BD6-04D2-09807DCD9EF1}"/>
              </a:ext>
            </a:extLst>
          </p:cNvPr>
          <p:cNvSpPr/>
          <p:nvPr/>
        </p:nvSpPr>
        <p:spPr>
          <a:xfrm>
            <a:off x="3069558" y="2608216"/>
            <a:ext cx="2390716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草稿比對相似度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B45DD0A6-6D84-D6D2-D6D4-EC567F6F6E27}"/>
              </a:ext>
            </a:extLst>
          </p:cNvPr>
          <p:cNvSpPr/>
          <p:nvPr/>
        </p:nvSpPr>
        <p:spPr>
          <a:xfrm>
            <a:off x="5589854" y="2823028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786BEEB-FE73-85CE-53FE-76CF43D921A8}"/>
              </a:ext>
            </a:extLst>
          </p:cNvPr>
          <p:cNvSpPr/>
          <p:nvPr/>
        </p:nvSpPr>
        <p:spPr>
          <a:xfrm>
            <a:off x="6229685" y="2573261"/>
            <a:ext cx="2390716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總相似度比對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64F5A38-FE05-E2A9-5FB9-29B1E1526A16}"/>
              </a:ext>
            </a:extLst>
          </p:cNvPr>
          <p:cNvSpPr txBox="1"/>
          <p:nvPr/>
        </p:nvSpPr>
        <p:spPr>
          <a:xfrm>
            <a:off x="3069558" y="3474961"/>
            <a:ext cx="2244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分成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個構面比對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DD06FC4B-9D9D-514E-85ED-BED41EDDB556}"/>
              </a:ext>
            </a:extLst>
          </p:cNvPr>
          <p:cNvSpPr/>
          <p:nvPr/>
        </p:nvSpPr>
        <p:spPr>
          <a:xfrm>
            <a:off x="8788921" y="2823028"/>
            <a:ext cx="510251" cy="2540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FE5AB04-C8CB-74D3-8EB6-5C434AE09169}"/>
              </a:ext>
            </a:extLst>
          </p:cNvPr>
          <p:cNvSpPr/>
          <p:nvPr/>
        </p:nvSpPr>
        <p:spPr>
          <a:xfrm>
            <a:off x="9375680" y="2573261"/>
            <a:ext cx="2390716" cy="7535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總相似度排序</a:t>
            </a:r>
          </a:p>
        </p:txBody>
      </p:sp>
    </p:spTree>
    <p:extLst>
      <p:ext uri="{BB962C8B-B14F-4D97-AF65-F5344CB8AC3E}">
        <p14:creationId xmlns:p14="http://schemas.microsoft.com/office/powerpoint/2010/main" val="215523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25B5E-22B7-17E1-2093-6BBFB7D61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13" y="281352"/>
            <a:ext cx="3908268" cy="1005582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專利檢索步驟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32C120-4862-1A65-C604-E98F8E12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檢索關鍵詞的生成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檢索關鍵字儲存至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關鍵字組合排列組合全部列出後，將每一筆的關鍵字組合丟到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GPSS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抓取專利，最後將撈到的資料全部儲存置資料庫</a:t>
            </a:r>
          </a:p>
        </p:txBody>
      </p:sp>
    </p:spTree>
    <p:extLst>
      <p:ext uri="{BB962C8B-B14F-4D97-AF65-F5344CB8AC3E}">
        <p14:creationId xmlns:p14="http://schemas.microsoft.com/office/powerpoint/2010/main" val="207939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14C0-0D64-B567-B343-C135363C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目前進度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34C095-669D-0521-2977-331F0575F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定期撈資料</a:t>
            </a:r>
            <a:endParaRPr lang="en-US" altLang="zh-TW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撈完準備儲存至資料庫，進行資料檢索</a:t>
            </a:r>
            <a:endParaRPr lang="en-US" altLang="zh-TW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endParaRPr lang="zh-TW" altLang="en-US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678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CF025-6B40-5652-B481-24296FBE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檢索關鍵詞生成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BD42FA-1D71-8CD4-771B-527F98270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069" y="1526629"/>
            <a:ext cx="11258598" cy="689608"/>
          </a:xfrm>
        </p:spPr>
        <p:txBody>
          <a:bodyPr/>
          <a:lstStyle/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選定一筆參考專利，將專利的關鍵字用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GPTs</a:t>
            </a: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產生複數個同義詞、上下詞、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IPC</a:t>
            </a: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4532A4B-66CF-7CCA-614D-C1442483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69" y="2099505"/>
            <a:ext cx="4978769" cy="444898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A741B6D-AABD-E70D-BD04-7C62019ED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20" y="2240556"/>
            <a:ext cx="4980864" cy="42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42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6902E7-C02A-BF7D-EC29-C588D0CC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檢索關鍵字儲存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79A0718E-49CF-52F5-C27B-16FDED32A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64" y="3429000"/>
            <a:ext cx="12012732" cy="1697211"/>
          </a:xfrm>
          <a:prstGeom prst="rect">
            <a:avLst/>
          </a:prstGeom>
        </p:spPr>
      </p:pic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CA9EDDA-300A-B7E2-6458-7470575288D1}"/>
              </a:ext>
            </a:extLst>
          </p:cNvPr>
          <p:cNvSpPr txBox="1">
            <a:spLocks/>
          </p:cNvSpPr>
          <p:nvPr/>
        </p:nvSpPr>
        <p:spPr>
          <a:xfrm>
            <a:off x="377067" y="2314569"/>
            <a:ext cx="11258598" cy="689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500"/>
              </a:spcBef>
              <a:buClr>
                <a:schemeClr val="accent2"/>
              </a:buClr>
              <a:buFontTx/>
              <a:buNone/>
              <a:defRPr sz="1500" b="1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5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依據提供的關鍵字及其生成的同義詞、上下詞、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IPC</a:t>
            </a: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，成為第一份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5879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03B52A-5B38-09A6-155E-2935F78F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關鍵字組合全部列出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C78788E-D7CD-3A07-4828-020413BE8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8776" y="1446055"/>
            <a:ext cx="4236557" cy="521881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FE768EE-50FD-796F-2394-B816A470AE6B}"/>
              </a:ext>
            </a:extLst>
          </p:cNvPr>
          <p:cNvSpPr txBox="1"/>
          <p:nvPr/>
        </p:nvSpPr>
        <p:spPr>
          <a:xfrm>
            <a:off x="367158" y="3013868"/>
            <a:ext cx="6236841" cy="174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zh-TW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將這份</a:t>
            </a:r>
            <a:r>
              <a:rPr lang="en-US" altLang="zh-TW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zh-TW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檔的關鍵字排列組合結果全部列出來，成為第二份</a:t>
            </a:r>
            <a:r>
              <a:rPr lang="en-US" altLang="zh-TW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zh-TW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</a:t>
            </a:r>
            <a:r>
              <a:rPr lang="en-US" altLang="zh-TW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以下稱關鍵字組合檔案</a:t>
            </a:r>
            <a:r>
              <a:rPr lang="en-US" altLang="zh-TW" sz="3200" spc="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zh-TW" sz="3200" spc="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6873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27211C-D62B-734D-71E3-0A9F9685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檢索自動撈取資料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1BD176-31F0-51B7-DC17-62DD4158C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110" y="1456771"/>
            <a:ext cx="10549738" cy="1558804"/>
          </a:xfrm>
        </p:spPr>
        <p:txBody>
          <a:bodyPr>
            <a:normAutofit/>
          </a:bodyPr>
          <a:lstStyle/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以此檔案作為檢索關鍵字組合，使用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GPSS</a:t>
            </a: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的網頁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，讓程式自動讀取檔案每筆的關鍵字組合，讓他自動檢索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86A048-016C-650D-9551-6C06FFA93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340" y="2679970"/>
            <a:ext cx="8054501" cy="395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3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27211C-D62B-734D-71E3-0A9F9685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檢索自動撈取資料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1BD176-31F0-51B7-DC17-62DD4158C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42" y="1579623"/>
            <a:ext cx="11167806" cy="1558804"/>
          </a:xfrm>
        </p:spPr>
        <p:txBody>
          <a:bodyPr>
            <a:normAutofit/>
          </a:bodyPr>
          <a:lstStyle/>
          <a:p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GPSS</a:t>
            </a: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有依時段設定不同的流量限制，</a:t>
            </a:r>
            <a:endParaRPr lang="en-US" altLang="zh-TW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這在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資料取得的測試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花費時間上是一個困難點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DAE8DB4-835F-1E9A-02E5-4EECD3C2C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1" y="3429000"/>
            <a:ext cx="11895238" cy="2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66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9BAEB-A146-40DF-51BC-D74F615C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布林檢索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15499F9-52CA-3E69-192C-6A9D26BBC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347" y="2387600"/>
            <a:ext cx="10904537" cy="3454557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D3A756D0-BEDD-E39B-8C0A-203CEAB648F1}"/>
              </a:ext>
            </a:extLst>
          </p:cNvPr>
          <p:cNvSpPr txBox="1"/>
          <p:nvPr/>
        </p:nvSpPr>
        <p:spPr>
          <a:xfrm>
            <a:off x="4986866" y="24841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關鍵字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7B7B11E-E6E3-73A1-CBB1-30A71711647F}"/>
              </a:ext>
            </a:extLst>
          </p:cNvPr>
          <p:cNvSpPr txBox="1"/>
          <p:nvPr/>
        </p:nvSpPr>
        <p:spPr>
          <a:xfrm>
            <a:off x="4966562" y="29246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同義詞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45547F-9278-5ADA-7552-6676BBBFD0E0}"/>
              </a:ext>
            </a:extLst>
          </p:cNvPr>
          <p:cNvSpPr txBox="1"/>
          <p:nvPr/>
        </p:nvSpPr>
        <p:spPr>
          <a:xfrm>
            <a:off x="4986866" y="34363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上下詞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DEDBBEA-64BE-C1CB-02A8-BF481E7CA4F0}"/>
              </a:ext>
            </a:extLst>
          </p:cNvPr>
          <p:cNvSpPr txBox="1"/>
          <p:nvPr/>
        </p:nvSpPr>
        <p:spPr>
          <a:xfrm>
            <a:off x="5653048" y="394657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IPC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535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31330-642E-1ABB-AC7D-D7784FC7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測試程式可印出正確網址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C08329E-F1F7-1FDA-DD4A-DBD295F28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311" y="3624717"/>
            <a:ext cx="10904537" cy="2040614"/>
          </a:xfr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E61A137-8756-632D-9459-36B25C981C0C}"/>
              </a:ext>
            </a:extLst>
          </p:cNvPr>
          <p:cNvSpPr txBox="1">
            <a:spLocks/>
          </p:cNvSpPr>
          <p:nvPr/>
        </p:nvSpPr>
        <p:spPr>
          <a:xfrm>
            <a:off x="893411" y="2362653"/>
            <a:ext cx="10904435" cy="1001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500"/>
              </a:spcBef>
              <a:buClr>
                <a:schemeClr val="accent2"/>
              </a:buClr>
              <a:buFontTx/>
              <a:buNone/>
              <a:defRPr sz="1500" b="1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5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確認程式讀取關鍵字資料以後，與前一頁範例檢索方式產生的網址一致</a:t>
            </a:r>
          </a:p>
        </p:txBody>
      </p:sp>
    </p:spTree>
    <p:extLst>
      <p:ext uri="{BB962C8B-B14F-4D97-AF65-F5344CB8AC3E}">
        <p14:creationId xmlns:p14="http://schemas.microsoft.com/office/powerpoint/2010/main" val="1196453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C3AEB-7E2F-1D9A-214E-7AD41754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發現問題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BBCD48F-9A73-3FC7-9DB8-97E272D53C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8265" y="2981708"/>
            <a:ext cx="8668924" cy="3393617"/>
          </a:xfrm>
          <a:prstGeom prst="rect">
            <a:avLst/>
          </a:prstGeom>
        </p:spPr>
      </p:pic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97287B89-C85A-6911-3F77-052584C89DEB}"/>
              </a:ext>
            </a:extLst>
          </p:cNvPr>
          <p:cNvSpPr txBox="1">
            <a:spLocks/>
          </p:cNvSpPr>
          <p:nvPr/>
        </p:nvSpPr>
        <p:spPr>
          <a:xfrm>
            <a:off x="536911" y="1422904"/>
            <a:ext cx="10478223" cy="1558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500"/>
              </a:spcBef>
              <a:buClr>
                <a:schemeClr val="accent2"/>
              </a:buClr>
              <a:buFontTx/>
              <a:buNone/>
              <a:defRPr sz="1500" b="1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5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40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目前成功測試完關鍵字組合檔案的第一筆資料，抓出來的專利可以發現前幾筆資料沒有專利範圍段落內容</a:t>
            </a:r>
          </a:p>
        </p:txBody>
      </p:sp>
    </p:spTree>
    <p:extLst>
      <p:ext uri="{BB962C8B-B14F-4D97-AF65-F5344CB8AC3E}">
        <p14:creationId xmlns:p14="http://schemas.microsoft.com/office/powerpoint/2010/main" val="2139052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48BF2-C5C4-5F4A-3BE4-D532977E2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發現問題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1B0D3-7691-759F-3465-4FFC0660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1" y="1397163"/>
            <a:ext cx="10904435" cy="1001985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進入到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GPSS</a:t>
            </a:r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的檢索系統搜尋，若是直接點開專利的公開說明書是可以看到專利範圍內容的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1956099-B6AF-AF9C-9AA0-3E923513D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45" y="2974277"/>
            <a:ext cx="7318443" cy="375698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4BD236C-7A37-7670-AE7D-222CF614D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362" y="2315951"/>
            <a:ext cx="4170011" cy="441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67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48BF2-C5C4-5F4A-3BE4-D532977E2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發現問題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1B0D3-7691-759F-3465-4FFC0660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1" y="1397163"/>
            <a:ext cx="11133037" cy="1001985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但若是將專利資料勾選，放入標記清單，即使輸出欄位有勾選了，該專利的專利範圍欄位依舊是空的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4B11653-C92F-2BE2-2F24-BCBF55664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127" y="2115894"/>
            <a:ext cx="8777591" cy="445737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39123B4-0E7E-760D-BF6A-AECE87349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5181600"/>
            <a:ext cx="9142857" cy="13714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6506F16-46A3-462F-B0AD-4FB6910DD7E3}"/>
              </a:ext>
            </a:extLst>
          </p:cNvPr>
          <p:cNvSpPr/>
          <p:nvPr/>
        </p:nvSpPr>
        <p:spPr>
          <a:xfrm>
            <a:off x="8169191" y="5418496"/>
            <a:ext cx="1100666" cy="11345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30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DD39ED-5C56-C0C9-70E2-6BCF824D9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猜測原因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A811D5-0138-45B4-57B6-A4C50A6D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由於</a:t>
            </a:r>
            <a:r>
              <a:rPr lang="en-US" altLang="zh-TW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GPSS</a:t>
            </a:r>
            <a:r>
              <a:rPr lang="zh-TW" altLang="en-US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網站直接下載輸出的資料，專利範圍這部分也是空的，但後面其他撈到的專利是有抓到內容的，</a:t>
            </a:r>
            <a:r>
              <a:rPr lang="zh-TW" altLang="en-US" sz="2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推測是網站上有些專利並沒有開放所有資料欄位的下載</a:t>
            </a:r>
            <a:r>
              <a:rPr lang="zh-TW" altLang="en-US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，要看只能透過自行點開公開說明書</a:t>
            </a:r>
            <a:r>
              <a:rPr lang="en-US" altLang="zh-TW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lang="zh-TW" altLang="en-US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才可以</a:t>
            </a:r>
            <a:endParaRPr lang="en-US" altLang="zh-TW" sz="2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想請教這個推測原因是不是有可能發生的，以及為什麼會造成這個狀況的原因</a:t>
            </a:r>
            <a:r>
              <a:rPr lang="en-US" altLang="zh-TW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沒有開放所有資料欄位下載的原因</a:t>
            </a:r>
            <a:r>
              <a:rPr lang="en-US" altLang="zh-TW" sz="2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7412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5EDEC7-C7E6-479B-9BC7-6FBB0719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A49286-A6C8-44AD-BFC5-7879CB1F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FFE593-D88A-4336-A731-4A3A9FF8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E4F9379-F875-7D08-6599-AFC69B040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回覆內容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5AA5E78-141B-56BC-D4D3-8E74D639D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15" y="1545889"/>
            <a:ext cx="5355916" cy="504795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FC8C89-62B8-25BE-DE59-A6F4EBEE1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955" y="3172692"/>
            <a:ext cx="6347530" cy="1322851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sz="2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GPSS</a:t>
            </a:r>
            <a:r>
              <a:rPr lang="zh-TW" altLang="en-US" sz="2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在進行圖像轉成文字，並將文字資料轉入系統時，需要</a:t>
            </a:r>
            <a:r>
              <a:rPr lang="en-US" altLang="zh-TW" sz="2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1~1.5</a:t>
            </a:r>
            <a:r>
              <a:rPr lang="zh-TW" altLang="en-US" sz="2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個月的作業時間</a:t>
            </a:r>
            <a:endParaRPr lang="en-US" sz="28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8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E5AFB6-3A13-BD92-4CE6-1421E93C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將重複資料刪除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待更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3D8C18-181F-3D52-0F0F-8B77C9666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11" y="1427059"/>
            <a:ext cx="10904435" cy="620985"/>
          </a:xfrm>
        </p:spPr>
        <p:txBody>
          <a:bodyPr>
            <a:normAutofit/>
          </a:bodyPr>
          <a:lstStyle/>
          <a:p>
            <a:r>
              <a:rPr lang="zh-TW" altLang="en-US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因檢索條件可能會產生許多重複的資料，須將重複的資料刪除</a:t>
            </a:r>
          </a:p>
        </p:txBody>
      </p:sp>
    </p:spTree>
    <p:extLst>
      <p:ext uri="{BB962C8B-B14F-4D97-AF65-F5344CB8AC3E}">
        <p14:creationId xmlns:p14="http://schemas.microsoft.com/office/powerpoint/2010/main" val="3397593901"/>
      </p:ext>
    </p:extLst>
  </p:cSld>
  <p:clrMapOvr>
    <a:masterClrMapping/>
  </p:clrMapOvr>
</p:sld>
</file>

<file path=ppt/theme/theme1.xml><?xml version="1.0" encoding="utf-8"?>
<a:theme xmlns:a="http://schemas.openxmlformats.org/drawingml/2006/main" name="MeiryoVTI">
  <a:themeElements>
    <a:clrScheme name="Meiryo">
      <a:dk1>
        <a:srgbClr val="232323"/>
      </a:dk1>
      <a:lt1>
        <a:srgbClr val="FFFFFF"/>
      </a:lt1>
      <a:dk2>
        <a:srgbClr val="231B23"/>
      </a:dk2>
      <a:lt2>
        <a:srgbClr val="FCF5E5"/>
      </a:lt2>
      <a:accent1>
        <a:srgbClr val="FDA431"/>
      </a:accent1>
      <a:accent2>
        <a:srgbClr val="4DA1A8"/>
      </a:accent2>
      <a:accent3>
        <a:srgbClr val="B9D587"/>
      </a:accent3>
      <a:accent4>
        <a:srgbClr val="E8BD32"/>
      </a:accent4>
      <a:accent5>
        <a:srgbClr val="809EC2"/>
      </a:accent5>
      <a:accent6>
        <a:srgbClr val="E3ADB6"/>
      </a:accent6>
      <a:hlink>
        <a:srgbClr val="34ADB6"/>
      </a:hlink>
      <a:folHlink>
        <a:srgbClr val="B2B2B2"/>
      </a:folHlink>
    </a:clrScheme>
    <a:fontScheme name="Meiryo UI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iryoVTI" id="{3EF0B2FA-4C70-4C56-AE0C-16E6000BE750}" vid="{C80AAF17-7084-4B19-8ADF-AE8F46812F2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547</Words>
  <Application>Microsoft Office PowerPoint</Application>
  <PresentationFormat>寬螢幕</PresentationFormat>
  <Paragraphs>67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5" baseType="lpstr">
      <vt:lpstr>Meiryo</vt:lpstr>
      <vt:lpstr>Meiryo UI</vt:lpstr>
      <vt:lpstr>微軟正黑體</vt:lpstr>
      <vt:lpstr>Arial</vt:lpstr>
      <vt:lpstr>Wingdings</vt:lpstr>
      <vt:lpstr>MeiryoVTI</vt:lpstr>
      <vt:lpstr>專利檢索</vt:lpstr>
      <vt:lpstr>檢索流程圖</vt:lpstr>
      <vt:lpstr>比對流程圖(第一部分)</vt:lpstr>
      <vt:lpstr>比對流程圖(第二部分)</vt:lpstr>
      <vt:lpstr>專利檢索步驟</vt:lpstr>
      <vt:lpstr>目前進度</vt:lpstr>
      <vt:lpstr>檢索關鍵詞生成</vt:lpstr>
      <vt:lpstr>檢索關鍵字儲存</vt:lpstr>
      <vt:lpstr>關鍵字組合全部列出</vt:lpstr>
      <vt:lpstr>使用API檢索自動撈取資料</vt:lpstr>
      <vt:lpstr>使用API檢索自動撈取資料</vt:lpstr>
      <vt:lpstr>布林檢索</vt:lpstr>
      <vt:lpstr>測試程式可印出正確網址</vt:lpstr>
      <vt:lpstr>發現問題</vt:lpstr>
      <vt:lpstr>發現問題</vt:lpstr>
      <vt:lpstr>發現問題</vt:lpstr>
      <vt:lpstr>猜測原因</vt:lpstr>
      <vt:lpstr>回覆內容</vt:lpstr>
      <vt:lpstr>將重複資料刪除(待更)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專利檢索</dc:title>
  <dc:creator>怡萱 傅</dc:creator>
  <cp:lastModifiedBy>怡萱 傅</cp:lastModifiedBy>
  <cp:revision>82</cp:revision>
  <dcterms:created xsi:type="dcterms:W3CDTF">2024-02-25T03:35:12Z</dcterms:created>
  <dcterms:modified xsi:type="dcterms:W3CDTF">2024-04-25T10:17:23Z</dcterms:modified>
</cp:coreProperties>
</file>