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2" r:id="rId5"/>
    <p:sldId id="261" r:id="rId6"/>
    <p:sldId id="258" r:id="rId7"/>
    <p:sldId id="259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63AB92-C510-42B4-982D-7296D35846CC}" type="datetimeFigureOut">
              <a:rPr lang="zh-TW" altLang="en-US" smtClean="0"/>
              <a:t>2024/7/5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40F32-7D06-49D2-9DE9-13D8172627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057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40F32-7D06-49D2-9DE9-13D81726277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3986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40F32-7D06-49D2-9DE9-13D81726277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1367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40F32-7D06-49D2-9DE9-13D81726277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062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40F32-7D06-49D2-9DE9-13D81726277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2815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40F32-7D06-49D2-9DE9-13D81726277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411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D13D42-7D42-321E-7DB0-51DF36741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03FE851-7A7B-AA74-4BD6-622CA3ABA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CE11D3-AD6D-0ABE-E11B-49CBA009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849A-F7A2-4B3C-8C0E-1A134695CBC0}" type="datetimeFigureOut">
              <a:rPr lang="zh-TW" altLang="en-US" smtClean="0"/>
              <a:t>2024/7/5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802444-2732-60A3-43B5-1E8E4AAF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B3CC04-2EA5-F052-293D-063D95CD8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AA5B-EB69-496C-9EDF-F5420E7354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546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7D589D-F570-7C7A-39A0-6CB7E4A4E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DECFB-CCA7-C661-3B76-BCCB582AD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635A45-64BD-4413-3C45-3B6263DA5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849A-F7A2-4B3C-8C0E-1A134695CBC0}" type="datetimeFigureOut">
              <a:rPr lang="zh-TW" altLang="en-US" smtClean="0"/>
              <a:t>2024/7/5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CC3AF9-763C-0BBB-0D7E-D1262FB1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4617EC-B600-06D7-25D0-78CD5DD1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AA5B-EB69-496C-9EDF-F5420E7354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122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0BF6A9-9EB0-C7B3-6C94-2828B4371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A43299D-11DA-7A66-D44E-26061D781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94D7F1-3BA6-C5C0-3F08-B139E35B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849A-F7A2-4B3C-8C0E-1A134695CBC0}" type="datetimeFigureOut">
              <a:rPr lang="zh-TW" altLang="en-US" smtClean="0"/>
              <a:t>2024/7/5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BCF946-A84A-C142-9A69-CCB9665C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5930CC-B476-7B2B-12B3-234A5D88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AA5B-EB69-496C-9EDF-F5420E7354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011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46016F-E48D-0F45-2465-FF0B1CBD1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FF1697-BD6A-30A2-753D-9BC635555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AC8DD5-EE33-20CD-8553-BC9E94486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077C20E-EBC5-E4B2-9028-9450EDA9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849A-F7A2-4B3C-8C0E-1A134695CBC0}" type="datetimeFigureOut">
              <a:rPr lang="zh-TW" altLang="en-US" smtClean="0"/>
              <a:t>2024/7/5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7005FE2-3B48-21E1-64B4-0B27CB644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5747E16-C59E-77D1-572E-7397BBF5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AA5B-EB69-496C-9EDF-F5420E7354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2603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1E643F-425A-59F2-3F12-0D159777E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C6B554-F905-A97C-1A03-A5D17207A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8F675D-D49F-FF87-9181-1C7E7D5D7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189315E-4593-F43D-7C46-B9C8216C3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6A7E076-8D0B-2633-87EB-A4A6A9986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0B5CD28-A73E-83C9-947A-0195F5896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849A-F7A2-4B3C-8C0E-1A134695CBC0}" type="datetimeFigureOut">
              <a:rPr lang="zh-TW" altLang="en-US" smtClean="0"/>
              <a:t>2024/7/5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421D1E0-6994-76F2-CF62-3122BE0D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5C8626F-74CE-1419-B854-099419981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AA5B-EB69-496C-9EDF-F5420E7354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75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78B33-273C-53A1-882E-F1F46D7CB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F4BA22-7BE3-D93B-8137-560B01FC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849A-F7A2-4B3C-8C0E-1A134695CBC0}" type="datetimeFigureOut">
              <a:rPr lang="zh-TW" altLang="en-US" smtClean="0"/>
              <a:t>2024/7/5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F68CED5-BCCF-08B5-B303-B1078807A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B94B4C7-756F-B7E2-7133-3A24158C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AA5B-EB69-496C-9EDF-F5420E7354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78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1646513-9A7E-338F-A45C-2D9B707D4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849A-F7A2-4B3C-8C0E-1A134695CBC0}" type="datetimeFigureOut">
              <a:rPr lang="zh-TW" altLang="en-US" smtClean="0"/>
              <a:t>2024/7/5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9EEB254-3F22-AED5-0D4E-D1A85D5E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9BC3FF-577C-D5DC-9511-C2EBDFC4C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AA5B-EB69-496C-9EDF-F5420E7354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1134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BDEABD-F23C-DD3A-3C5E-EA4881093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5A70D2-5F04-F009-2FC0-C77C30624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D50E4B-D630-5465-ECBD-178670E55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13C1E1-1EB4-3B37-3284-37CC1A19E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849A-F7A2-4B3C-8C0E-1A134695CBC0}" type="datetimeFigureOut">
              <a:rPr lang="zh-TW" altLang="en-US" smtClean="0"/>
              <a:t>2024/7/5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103AC6-592A-02CD-1642-8DBCD7119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3FBBA2-B433-B5D7-E78B-0B85093E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AA5B-EB69-496C-9EDF-F5420E7354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4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486EDE-71D5-45D9-3233-5AB2BAAC6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F02D2DD-8A5A-F11D-6684-96B4FCCDBA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77AA6-D546-7C84-E83B-82959BEF3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D325483-F5F5-E6E0-250F-D4134634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849A-F7A2-4B3C-8C0E-1A134695CBC0}" type="datetimeFigureOut">
              <a:rPr lang="zh-TW" altLang="en-US" smtClean="0"/>
              <a:t>2024/7/5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5BA7452-FCBD-6107-1B39-68F80D018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9541DA-6F4C-F940-3072-6098AD911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AA5B-EB69-496C-9EDF-F5420E7354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332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61E751-61DD-94AE-DB0D-0454FE7C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B0E43E-74CB-7391-BF62-897B56B5B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EB4C34-9AF1-57A4-30DE-3875B8C31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849A-F7A2-4B3C-8C0E-1A134695CBC0}" type="datetimeFigureOut">
              <a:rPr lang="zh-TW" altLang="en-US" smtClean="0"/>
              <a:t>2024/7/5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AABACA-8B37-FAD7-2B64-1AEDFDDDB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79F656-3072-F605-A887-BCD42E570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AA5B-EB69-496C-9EDF-F5420E7354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643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D99ADDA-D5F3-3C62-5EA2-672FD0410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6C9AFC-70C8-8082-DC17-AC6B67DA1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A189DF-22BB-8F4A-E7C1-F7D1B94F6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849A-F7A2-4B3C-8C0E-1A134695CBC0}" type="datetimeFigureOut">
              <a:rPr lang="zh-TW" altLang="en-US" smtClean="0"/>
              <a:t>2024/7/5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81939D-A42D-6D39-E9AC-5296523D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F7FD3E-C228-846D-3276-8010FC666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AA5B-EB69-496C-9EDF-F5420E7354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8148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066AA50-863F-C9F0-06E5-279EFE9F8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E3BC80-AFAA-5D2C-F6F8-65B46B13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DA33F8-0357-3234-4A5F-F9678F760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C9849A-F7A2-4B3C-8C0E-1A134695CBC0}" type="datetimeFigureOut">
              <a:rPr lang="zh-TW" altLang="en-US" smtClean="0"/>
              <a:t>2024/7/5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DB3861-A6EA-5F1D-EB68-D91E71027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B2C509-90A0-654C-4CEC-1D96273B8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1AAA5B-EB69-496C-9EDF-F5420E7354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993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7E5141F2-528B-3AB1-596C-5DC036F4018F}"/>
              </a:ext>
            </a:extLst>
          </p:cNvPr>
          <p:cNvSpPr/>
          <p:nvPr/>
        </p:nvSpPr>
        <p:spPr>
          <a:xfrm>
            <a:off x="538480" y="525539"/>
            <a:ext cx="3708400" cy="1219200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輸入基本關鍵字</a:t>
            </a:r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&amp;IPC</a:t>
            </a:r>
          </a:p>
          <a:p>
            <a:pPr algn="ctr"/>
            <a:r>
              <a:rPr lang="zh-TW" altLang="en-US" sz="2400" b="1" dirty="0">
                <a:solidFill>
                  <a:schemeClr val="accent1">
                    <a:lumMod val="50000"/>
                  </a:schemeClr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zh-TW" altLang="en-US" sz="24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生成更多的關鍵詞</a:t>
            </a:r>
            <a:endParaRPr lang="en-US" altLang="zh-TW" sz="2400" b="1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考慮上</a:t>
            </a:r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下詞</a:t>
            </a:r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同義詞</a:t>
            </a:r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6F6B908-44E9-E85B-86F1-F05590FF843E}"/>
              </a:ext>
            </a:extLst>
          </p:cNvPr>
          <p:cNvSpPr txBox="1"/>
          <p:nvPr/>
        </p:nvSpPr>
        <p:spPr>
          <a:xfrm>
            <a:off x="-24882" y="-4880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專利檢索</a:t>
            </a: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CFBC7984-8C9E-3E59-3F0E-CCC7FCFA8D9E}"/>
              </a:ext>
            </a:extLst>
          </p:cNvPr>
          <p:cNvSpPr/>
          <p:nvPr/>
        </p:nvSpPr>
        <p:spPr>
          <a:xfrm>
            <a:off x="4810242" y="851457"/>
            <a:ext cx="1430867" cy="49953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57561ED-43F8-65C1-58C6-B79F82DFF4F5}"/>
              </a:ext>
            </a:extLst>
          </p:cNvPr>
          <p:cNvSpPr txBox="1"/>
          <p:nvPr/>
        </p:nvSpPr>
        <p:spPr>
          <a:xfrm>
            <a:off x="4246880" y="156504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關鍵詞進行排列組合</a:t>
            </a:r>
          </a:p>
        </p:txBody>
      </p: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9AB9AC3B-D4F9-DC74-BB63-2816F7C4AE52}"/>
              </a:ext>
            </a:extLst>
          </p:cNvPr>
          <p:cNvCxnSpPr>
            <a:cxnSpLocks/>
            <a:stCxn id="13" idx="2"/>
            <a:endCxn id="1026" idx="3"/>
          </p:cNvCxnSpPr>
          <p:nvPr/>
        </p:nvCxnSpPr>
        <p:spPr>
          <a:xfrm rot="5400000">
            <a:off x="7270681" y="860266"/>
            <a:ext cx="808616" cy="3683089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C02E86A-71E1-943C-14E1-15942DD17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256166"/>
              </p:ext>
            </p:extLst>
          </p:nvPr>
        </p:nvGraphicFramePr>
        <p:xfrm>
          <a:off x="7332134" y="102942"/>
          <a:ext cx="43687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243">
                  <a:extLst>
                    <a:ext uri="{9D8B030D-6E8A-4147-A177-3AD203B41FA5}">
                      <a16:colId xmlns:a16="http://schemas.microsoft.com/office/drawing/2014/main" val="1818147816"/>
                    </a:ext>
                  </a:extLst>
                </a:gridCol>
                <a:gridCol w="1139321">
                  <a:extLst>
                    <a:ext uri="{9D8B030D-6E8A-4147-A177-3AD203B41FA5}">
                      <a16:colId xmlns:a16="http://schemas.microsoft.com/office/drawing/2014/main" val="391382690"/>
                    </a:ext>
                  </a:extLst>
                </a:gridCol>
                <a:gridCol w="1116307">
                  <a:extLst>
                    <a:ext uri="{9D8B030D-6E8A-4147-A177-3AD203B41FA5}">
                      <a16:colId xmlns:a16="http://schemas.microsoft.com/office/drawing/2014/main" val="668119843"/>
                    </a:ext>
                  </a:extLst>
                </a:gridCol>
                <a:gridCol w="943928">
                  <a:extLst>
                    <a:ext uri="{9D8B030D-6E8A-4147-A177-3AD203B41FA5}">
                      <a16:colId xmlns:a16="http://schemas.microsoft.com/office/drawing/2014/main" val="3344830781"/>
                    </a:ext>
                  </a:extLst>
                </a:gridCol>
              </a:tblGrid>
              <a:tr h="34782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關鍵字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同義詞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上下詞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IPC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340150"/>
                  </a:ext>
                </a:extLst>
              </a:tr>
              <a:tr h="345501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電子設備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電子產品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智能手機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H04N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78477"/>
                  </a:ext>
                </a:extLst>
              </a:tr>
              <a:tr h="3455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電子設備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電子產品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智能手機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H04B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709713"/>
                  </a:ext>
                </a:extLst>
              </a:tr>
              <a:tr h="3455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電子設備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電子產品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智能手機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G06F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983122"/>
                  </a:ext>
                </a:extLst>
              </a:tr>
              <a:tr h="3455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電子設備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電子產品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智能手機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H01L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098837"/>
                  </a:ext>
                </a:extLst>
              </a:tr>
              <a:tr h="345501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861374"/>
                  </a:ext>
                </a:extLst>
              </a:tr>
            </a:tbl>
          </a:graphicData>
        </a:graphic>
      </p:graphicFrame>
      <p:pic>
        <p:nvPicPr>
          <p:cNvPr id="1026" name="Picture 2" descr="創業前的準備：專利檢索(Patent Search)及3個實務上常用的專利檢索系統- 育德智慧財產事務所">
            <a:extLst>
              <a:ext uri="{FF2B5EF4-FFF2-40B4-BE49-F238E27FC236}">
                <a16:creationId xmlns:a16="http://schemas.microsoft.com/office/drawing/2014/main" id="{986ACD4B-BC45-A7B4-199C-62E6690BF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833" y="2783235"/>
            <a:ext cx="3187611" cy="64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0255C028-FA59-7F69-AC37-F9FAAE1D0D3C}"/>
              </a:ext>
            </a:extLst>
          </p:cNvPr>
          <p:cNvSpPr txBox="1"/>
          <p:nvPr/>
        </p:nvSpPr>
        <p:spPr>
          <a:xfrm>
            <a:off x="6096000" y="2596940"/>
            <a:ext cx="3398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撈取專利資料</a:t>
            </a:r>
          </a:p>
        </p:txBody>
      </p: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053BDE91-ED42-A0B3-19C1-3A55B8DE71F7}"/>
              </a:ext>
            </a:extLst>
          </p:cNvPr>
          <p:cNvCxnSpPr>
            <a:cxnSpLocks/>
            <a:stCxn id="1026" idx="1"/>
            <a:endCxn id="24" idx="0"/>
          </p:cNvCxnSpPr>
          <p:nvPr/>
        </p:nvCxnSpPr>
        <p:spPr>
          <a:xfrm rot="10800000" flipV="1">
            <a:off x="639593" y="3106117"/>
            <a:ext cx="2006241" cy="1570481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圖片 23">
            <a:extLst>
              <a:ext uri="{FF2B5EF4-FFF2-40B4-BE49-F238E27FC236}">
                <a16:creationId xmlns:a16="http://schemas.microsoft.com/office/drawing/2014/main" id="{94D995F9-8A38-19AB-D424-878156C83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2" y="4676599"/>
            <a:ext cx="1077359" cy="1017207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2875B3F5-86EE-58C5-41F2-B8F5DFD16B63}"/>
              </a:ext>
            </a:extLst>
          </p:cNvPr>
          <p:cNvSpPr txBox="1"/>
          <p:nvPr/>
        </p:nvSpPr>
        <p:spPr>
          <a:xfrm>
            <a:off x="36999" y="2668769"/>
            <a:ext cx="2477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資料儲存到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A873B02F-D7FA-099E-A0E5-CFA6DF684EEE}"/>
              </a:ext>
            </a:extLst>
          </p:cNvPr>
          <p:cNvSpPr/>
          <p:nvPr/>
        </p:nvSpPr>
        <p:spPr>
          <a:xfrm>
            <a:off x="1273685" y="5073526"/>
            <a:ext cx="1522456" cy="4656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0F5C6CF-1CA4-99F1-8D1B-F81D060D4879}"/>
              </a:ext>
            </a:extLst>
          </p:cNvPr>
          <p:cNvSpPr txBox="1"/>
          <p:nvPr/>
        </p:nvSpPr>
        <p:spPr>
          <a:xfrm>
            <a:off x="1131540" y="3740669"/>
            <a:ext cx="172515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比對相似度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ChatGPT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spaCy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fastText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3589B26-5A57-9C43-8DCD-392846A5371A}"/>
              </a:ext>
            </a:extLst>
          </p:cNvPr>
          <p:cNvSpPr txBox="1"/>
          <p:nvPr/>
        </p:nvSpPr>
        <p:spPr>
          <a:xfrm>
            <a:off x="1067725" y="549795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↑專利草稿</a:t>
            </a: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752422DA-8D85-9949-3D13-9F50573BA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969353"/>
              </p:ext>
            </p:extLst>
          </p:nvPr>
        </p:nvGraphicFramePr>
        <p:xfrm>
          <a:off x="7329494" y="3476833"/>
          <a:ext cx="274142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807">
                  <a:extLst>
                    <a:ext uri="{9D8B030D-6E8A-4147-A177-3AD203B41FA5}">
                      <a16:colId xmlns:a16="http://schemas.microsoft.com/office/drawing/2014/main" val="2268835797"/>
                    </a:ext>
                  </a:extLst>
                </a:gridCol>
                <a:gridCol w="913807">
                  <a:extLst>
                    <a:ext uri="{9D8B030D-6E8A-4147-A177-3AD203B41FA5}">
                      <a16:colId xmlns:a16="http://schemas.microsoft.com/office/drawing/2014/main" val="1548070099"/>
                    </a:ext>
                  </a:extLst>
                </a:gridCol>
                <a:gridCol w="913807">
                  <a:extLst>
                    <a:ext uri="{9D8B030D-6E8A-4147-A177-3AD203B41FA5}">
                      <a16:colId xmlns:a16="http://schemas.microsoft.com/office/drawing/2014/main" val="1911469624"/>
                    </a:ext>
                  </a:extLst>
                </a:gridCol>
              </a:tblGrid>
              <a:tr h="335526">
                <a:tc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703433"/>
                  </a:ext>
                </a:extLst>
              </a:tr>
              <a:tr h="2518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233676"/>
                  </a:ext>
                </a:extLst>
              </a:tr>
              <a:tr h="2518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65007"/>
                  </a:ext>
                </a:extLst>
              </a:tr>
              <a:tr h="2518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0589"/>
                  </a:ext>
                </a:extLst>
              </a:tr>
            </a:tbl>
          </a:graphicData>
        </a:graphic>
      </p:graphicFrame>
      <p:sp>
        <p:nvSpPr>
          <p:cNvPr id="36" name="箭號: 向右 35">
            <a:extLst>
              <a:ext uri="{FF2B5EF4-FFF2-40B4-BE49-F238E27FC236}">
                <a16:creationId xmlns:a16="http://schemas.microsoft.com/office/drawing/2014/main" id="{C7DD655A-C190-ED92-343E-2C01F0DBB5EF}"/>
              </a:ext>
            </a:extLst>
          </p:cNvPr>
          <p:cNvSpPr/>
          <p:nvPr/>
        </p:nvSpPr>
        <p:spPr>
          <a:xfrm rot="20191176">
            <a:off x="6478737" y="4405969"/>
            <a:ext cx="851780" cy="47032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84B651F1-493D-4AA3-E401-7B81ADB7D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905877"/>
              </p:ext>
            </p:extLst>
          </p:nvPr>
        </p:nvGraphicFramePr>
        <p:xfrm>
          <a:off x="2796366" y="4069939"/>
          <a:ext cx="348826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756">
                  <a:extLst>
                    <a:ext uri="{9D8B030D-6E8A-4147-A177-3AD203B41FA5}">
                      <a16:colId xmlns:a16="http://schemas.microsoft.com/office/drawing/2014/main" val="330585714"/>
                    </a:ext>
                  </a:extLst>
                </a:gridCol>
                <a:gridCol w="1162756">
                  <a:extLst>
                    <a:ext uri="{9D8B030D-6E8A-4147-A177-3AD203B41FA5}">
                      <a16:colId xmlns:a16="http://schemas.microsoft.com/office/drawing/2014/main" val="2661221060"/>
                    </a:ext>
                  </a:extLst>
                </a:gridCol>
                <a:gridCol w="1162756">
                  <a:extLst>
                    <a:ext uri="{9D8B030D-6E8A-4147-A177-3AD203B41FA5}">
                      <a16:colId xmlns:a16="http://schemas.microsoft.com/office/drawing/2014/main" val="3386858905"/>
                    </a:ext>
                  </a:extLst>
                </a:gridCol>
              </a:tblGrid>
              <a:tr h="3377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總相似度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931331"/>
                  </a:ext>
                </a:extLst>
              </a:tr>
              <a:tr h="337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22451"/>
                  </a:ext>
                </a:extLst>
              </a:tr>
              <a:tr h="337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0.87654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629789"/>
                  </a:ext>
                </a:extLst>
              </a:tr>
              <a:tr h="337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0.854584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043551"/>
                  </a:ext>
                </a:extLst>
              </a:tr>
              <a:tr h="337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0.8127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164736"/>
                  </a:ext>
                </a:extLst>
              </a:tr>
              <a:tr h="337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0.765428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93794"/>
                  </a:ext>
                </a:extLst>
              </a:tr>
            </a:tbl>
          </a:graphicData>
        </a:graphic>
      </p:graphicFrame>
      <p:sp>
        <p:nvSpPr>
          <p:cNvPr id="38" name="文字方塊 37">
            <a:extLst>
              <a:ext uri="{FF2B5EF4-FFF2-40B4-BE49-F238E27FC236}">
                <a16:creationId xmlns:a16="http://schemas.microsoft.com/office/drawing/2014/main" id="{E4001962-35D6-4731-446B-6E3AD7D09553}"/>
              </a:ext>
            </a:extLst>
          </p:cNvPr>
          <p:cNvSpPr txBox="1"/>
          <p:nvPr/>
        </p:nvSpPr>
        <p:spPr>
          <a:xfrm>
            <a:off x="10018158" y="3940205"/>
            <a:ext cx="223581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尋找有交集的專利資料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 ChatGPT)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65985D3-1BD3-6B9C-786B-339897111CE7}"/>
              </a:ext>
            </a:extLst>
          </p:cNvPr>
          <p:cNvSpPr txBox="1"/>
          <p:nvPr/>
        </p:nvSpPr>
        <p:spPr>
          <a:xfrm>
            <a:off x="3037524" y="6264499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依照相似度高低進行排序</a:t>
            </a: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A2844674-A237-47F9-398D-C72248B4692D}"/>
              </a:ext>
            </a:extLst>
          </p:cNvPr>
          <p:cNvSpPr/>
          <p:nvPr/>
        </p:nvSpPr>
        <p:spPr>
          <a:xfrm rot="943514">
            <a:off x="6429919" y="5458643"/>
            <a:ext cx="851780" cy="47032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70371C2-0689-8CC9-958D-CC41C63F6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44735"/>
              </p:ext>
            </p:extLst>
          </p:nvPr>
        </p:nvGraphicFramePr>
        <p:xfrm>
          <a:off x="7329494" y="5276778"/>
          <a:ext cx="2493538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769">
                  <a:extLst>
                    <a:ext uri="{9D8B030D-6E8A-4147-A177-3AD203B41FA5}">
                      <a16:colId xmlns:a16="http://schemas.microsoft.com/office/drawing/2014/main" val="3293312144"/>
                    </a:ext>
                  </a:extLst>
                </a:gridCol>
                <a:gridCol w="1246769">
                  <a:extLst>
                    <a:ext uri="{9D8B030D-6E8A-4147-A177-3AD203B41FA5}">
                      <a16:colId xmlns:a16="http://schemas.microsoft.com/office/drawing/2014/main" val="78378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788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802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9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955818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EB18EA23-39B3-8D2A-AAAC-3FFFC1E4F2A7}"/>
              </a:ext>
            </a:extLst>
          </p:cNvPr>
          <p:cNvSpPr txBox="1"/>
          <p:nvPr/>
        </p:nvSpPr>
        <p:spPr>
          <a:xfrm>
            <a:off x="9823032" y="5743206"/>
            <a:ext cx="2269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尋找有交集的專利資料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(For spaCy&amp;fastText)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951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7E5141F2-528B-3AB1-596C-5DC036F4018F}"/>
              </a:ext>
            </a:extLst>
          </p:cNvPr>
          <p:cNvSpPr/>
          <p:nvPr/>
        </p:nvSpPr>
        <p:spPr>
          <a:xfrm>
            <a:off x="538480" y="525539"/>
            <a:ext cx="3708400" cy="1219200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輸入基本關鍵字</a:t>
            </a:r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&amp;IPC</a:t>
            </a:r>
          </a:p>
          <a:p>
            <a:pPr algn="ctr"/>
            <a:r>
              <a:rPr lang="zh-TW" altLang="en-US" sz="2400" b="1" dirty="0">
                <a:solidFill>
                  <a:schemeClr val="accent1">
                    <a:lumMod val="50000"/>
                  </a:schemeClr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zh-TW" altLang="en-US" sz="24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生成更多的關鍵詞</a:t>
            </a:r>
            <a:endParaRPr lang="en-US" altLang="zh-TW" sz="2400" b="1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考慮上</a:t>
            </a:r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下詞</a:t>
            </a:r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同義詞</a:t>
            </a:r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6F6B908-44E9-E85B-86F1-F05590FF843E}"/>
              </a:ext>
            </a:extLst>
          </p:cNvPr>
          <p:cNvSpPr txBox="1"/>
          <p:nvPr/>
        </p:nvSpPr>
        <p:spPr>
          <a:xfrm>
            <a:off x="-24882" y="-4880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專利檢索</a:t>
            </a: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CFBC7984-8C9E-3E59-3F0E-CCC7FCFA8D9E}"/>
              </a:ext>
            </a:extLst>
          </p:cNvPr>
          <p:cNvSpPr/>
          <p:nvPr/>
        </p:nvSpPr>
        <p:spPr>
          <a:xfrm>
            <a:off x="4810242" y="851457"/>
            <a:ext cx="1430867" cy="49953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57561ED-43F8-65C1-58C6-B79F82DFF4F5}"/>
              </a:ext>
            </a:extLst>
          </p:cNvPr>
          <p:cNvSpPr txBox="1"/>
          <p:nvPr/>
        </p:nvSpPr>
        <p:spPr>
          <a:xfrm>
            <a:off x="4246880" y="156504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關鍵詞進行排列組合</a:t>
            </a:r>
          </a:p>
        </p:txBody>
      </p: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9AB9AC3B-D4F9-DC74-BB63-2816F7C4AE52}"/>
              </a:ext>
            </a:extLst>
          </p:cNvPr>
          <p:cNvCxnSpPr>
            <a:cxnSpLocks/>
            <a:stCxn id="13" idx="2"/>
            <a:endCxn id="1026" idx="3"/>
          </p:cNvCxnSpPr>
          <p:nvPr/>
        </p:nvCxnSpPr>
        <p:spPr>
          <a:xfrm rot="5400000">
            <a:off x="7492121" y="907781"/>
            <a:ext cx="539660" cy="3857014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C02E86A-71E1-943C-14E1-15942DD17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004534"/>
              </p:ext>
            </p:extLst>
          </p:nvPr>
        </p:nvGraphicFramePr>
        <p:xfrm>
          <a:off x="7451386" y="102942"/>
          <a:ext cx="4478145" cy="2463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410">
                  <a:extLst>
                    <a:ext uri="{9D8B030D-6E8A-4147-A177-3AD203B41FA5}">
                      <a16:colId xmlns:a16="http://schemas.microsoft.com/office/drawing/2014/main" val="1818147816"/>
                    </a:ext>
                  </a:extLst>
                </a:gridCol>
                <a:gridCol w="1143150">
                  <a:extLst>
                    <a:ext uri="{9D8B030D-6E8A-4147-A177-3AD203B41FA5}">
                      <a16:colId xmlns:a16="http://schemas.microsoft.com/office/drawing/2014/main" val="391382690"/>
                    </a:ext>
                  </a:extLst>
                </a:gridCol>
                <a:gridCol w="1355334">
                  <a:extLst>
                    <a:ext uri="{9D8B030D-6E8A-4147-A177-3AD203B41FA5}">
                      <a16:colId xmlns:a16="http://schemas.microsoft.com/office/drawing/2014/main" val="668119843"/>
                    </a:ext>
                  </a:extLst>
                </a:gridCol>
                <a:gridCol w="804251">
                  <a:extLst>
                    <a:ext uri="{9D8B030D-6E8A-4147-A177-3AD203B41FA5}">
                      <a16:colId xmlns:a16="http://schemas.microsoft.com/office/drawing/2014/main" val="3344830781"/>
                    </a:ext>
                  </a:extLst>
                </a:gridCol>
              </a:tblGrid>
              <a:tr h="337399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關鍵字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同義詞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上下詞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IPC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340150"/>
                  </a:ext>
                </a:extLst>
              </a:tr>
              <a:tr h="432999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震動單元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震動引擎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旋轉驅動器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H01L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78477"/>
                  </a:ext>
                </a:extLst>
              </a:tr>
              <a:tr h="432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震動單元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震動模組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感應器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G10K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709713"/>
                  </a:ext>
                </a:extLst>
              </a:tr>
              <a:tr h="432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震動單元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振動單元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反饋裝置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B06B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983122"/>
                  </a:ext>
                </a:extLst>
              </a:tr>
              <a:tr h="432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震動單元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震動引擎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振動馬達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F16H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098837"/>
                  </a:ext>
                </a:extLst>
              </a:tr>
              <a:tr h="337399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861374"/>
                  </a:ext>
                </a:extLst>
              </a:tr>
            </a:tbl>
          </a:graphicData>
        </a:graphic>
      </p:graphicFrame>
      <p:pic>
        <p:nvPicPr>
          <p:cNvPr id="1026" name="Picture 2" descr="創業前的準備：專利檢索(Patent Search)及3個實務上常用的專利檢索系統- 育德智慧財產事務所">
            <a:extLst>
              <a:ext uri="{FF2B5EF4-FFF2-40B4-BE49-F238E27FC236}">
                <a16:creationId xmlns:a16="http://schemas.microsoft.com/office/drawing/2014/main" id="{986ACD4B-BC45-A7B4-199C-62E6690BF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833" y="2783235"/>
            <a:ext cx="3187611" cy="64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0255C028-FA59-7F69-AC37-F9FAAE1D0D3C}"/>
              </a:ext>
            </a:extLst>
          </p:cNvPr>
          <p:cNvSpPr txBox="1"/>
          <p:nvPr/>
        </p:nvSpPr>
        <p:spPr>
          <a:xfrm>
            <a:off x="6096000" y="2596940"/>
            <a:ext cx="3398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撈取專利資料</a:t>
            </a:r>
          </a:p>
        </p:txBody>
      </p: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053BDE91-ED42-A0B3-19C1-3A55B8DE71F7}"/>
              </a:ext>
            </a:extLst>
          </p:cNvPr>
          <p:cNvCxnSpPr>
            <a:cxnSpLocks/>
            <a:stCxn id="1026" idx="1"/>
            <a:endCxn id="24" idx="0"/>
          </p:cNvCxnSpPr>
          <p:nvPr/>
        </p:nvCxnSpPr>
        <p:spPr>
          <a:xfrm rot="10800000" flipV="1">
            <a:off x="639593" y="3106117"/>
            <a:ext cx="2006241" cy="1570481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圖片 23">
            <a:extLst>
              <a:ext uri="{FF2B5EF4-FFF2-40B4-BE49-F238E27FC236}">
                <a16:creationId xmlns:a16="http://schemas.microsoft.com/office/drawing/2014/main" id="{94D995F9-8A38-19AB-D424-878156C83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2" y="4676599"/>
            <a:ext cx="1077359" cy="1017207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2875B3F5-86EE-58C5-41F2-B8F5DFD16B63}"/>
              </a:ext>
            </a:extLst>
          </p:cNvPr>
          <p:cNvSpPr txBox="1"/>
          <p:nvPr/>
        </p:nvSpPr>
        <p:spPr>
          <a:xfrm>
            <a:off x="36999" y="2668769"/>
            <a:ext cx="2477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資料儲存到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A873B02F-D7FA-099E-A0E5-CFA6DF684EEE}"/>
              </a:ext>
            </a:extLst>
          </p:cNvPr>
          <p:cNvSpPr/>
          <p:nvPr/>
        </p:nvSpPr>
        <p:spPr>
          <a:xfrm>
            <a:off x="1273685" y="5073526"/>
            <a:ext cx="1522456" cy="4656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0F5C6CF-1CA4-99F1-8D1B-F81D060D4879}"/>
              </a:ext>
            </a:extLst>
          </p:cNvPr>
          <p:cNvSpPr txBox="1"/>
          <p:nvPr/>
        </p:nvSpPr>
        <p:spPr>
          <a:xfrm>
            <a:off x="1131540" y="3740669"/>
            <a:ext cx="172515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比對相似度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ChatGPT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spaCy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fastText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3589B26-5A57-9C43-8DCD-392846A5371A}"/>
              </a:ext>
            </a:extLst>
          </p:cNvPr>
          <p:cNvSpPr txBox="1"/>
          <p:nvPr/>
        </p:nvSpPr>
        <p:spPr>
          <a:xfrm>
            <a:off x="1255278" y="6035593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↑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專利草稿</a:t>
            </a: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752422DA-8D85-9949-3D13-9F50573BA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530188"/>
              </p:ext>
            </p:extLst>
          </p:nvPr>
        </p:nvGraphicFramePr>
        <p:xfrm>
          <a:off x="7199153" y="3296488"/>
          <a:ext cx="252489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189">
                  <a:extLst>
                    <a:ext uri="{9D8B030D-6E8A-4147-A177-3AD203B41FA5}">
                      <a16:colId xmlns:a16="http://schemas.microsoft.com/office/drawing/2014/main" val="2268835797"/>
                    </a:ext>
                  </a:extLst>
                </a:gridCol>
                <a:gridCol w="726666">
                  <a:extLst>
                    <a:ext uri="{9D8B030D-6E8A-4147-A177-3AD203B41FA5}">
                      <a16:colId xmlns:a16="http://schemas.microsoft.com/office/drawing/2014/main" val="1548070099"/>
                    </a:ext>
                  </a:extLst>
                </a:gridCol>
                <a:gridCol w="687042">
                  <a:extLst>
                    <a:ext uri="{9D8B030D-6E8A-4147-A177-3AD203B41FA5}">
                      <a16:colId xmlns:a16="http://schemas.microsoft.com/office/drawing/2014/main" val="1911469624"/>
                    </a:ext>
                  </a:extLst>
                </a:gridCol>
              </a:tblGrid>
              <a:tr h="358260">
                <a:tc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703433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233676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65007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0589"/>
                  </a:ext>
                </a:extLst>
              </a:tr>
            </a:tbl>
          </a:graphicData>
        </a:graphic>
      </p:graphicFrame>
      <p:sp>
        <p:nvSpPr>
          <p:cNvPr id="36" name="箭號: 向右 35">
            <a:extLst>
              <a:ext uri="{FF2B5EF4-FFF2-40B4-BE49-F238E27FC236}">
                <a16:creationId xmlns:a16="http://schemas.microsoft.com/office/drawing/2014/main" id="{C7DD655A-C190-ED92-343E-2C01F0DBB5EF}"/>
              </a:ext>
            </a:extLst>
          </p:cNvPr>
          <p:cNvSpPr/>
          <p:nvPr/>
        </p:nvSpPr>
        <p:spPr>
          <a:xfrm rot="20191176">
            <a:off x="6310216" y="4405888"/>
            <a:ext cx="851780" cy="47032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84B651F1-493D-4AA3-E401-7B81ADB7D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138795"/>
              </p:ext>
            </p:extLst>
          </p:nvPr>
        </p:nvGraphicFramePr>
        <p:xfrm>
          <a:off x="3092024" y="3966828"/>
          <a:ext cx="27414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799">
                  <a:extLst>
                    <a:ext uri="{9D8B030D-6E8A-4147-A177-3AD203B41FA5}">
                      <a16:colId xmlns:a16="http://schemas.microsoft.com/office/drawing/2014/main" val="330585714"/>
                    </a:ext>
                  </a:extLst>
                </a:gridCol>
                <a:gridCol w="1295860">
                  <a:extLst>
                    <a:ext uri="{9D8B030D-6E8A-4147-A177-3AD203B41FA5}">
                      <a16:colId xmlns:a16="http://schemas.microsoft.com/office/drawing/2014/main" val="2661221060"/>
                    </a:ext>
                  </a:extLst>
                </a:gridCol>
                <a:gridCol w="659761">
                  <a:extLst>
                    <a:ext uri="{9D8B030D-6E8A-4147-A177-3AD203B41FA5}">
                      <a16:colId xmlns:a16="http://schemas.microsoft.com/office/drawing/2014/main" val="3386858905"/>
                    </a:ext>
                  </a:extLst>
                </a:gridCol>
              </a:tblGrid>
              <a:tr h="32276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總相似度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931331"/>
                  </a:ext>
                </a:extLst>
              </a:tr>
              <a:tr h="32276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22451"/>
                  </a:ext>
                </a:extLst>
              </a:tr>
              <a:tr h="32276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0.87654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629789"/>
                  </a:ext>
                </a:extLst>
              </a:tr>
              <a:tr h="32276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0.854584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043551"/>
                  </a:ext>
                </a:extLst>
              </a:tr>
              <a:tr h="32276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0.8127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164736"/>
                  </a:ext>
                </a:extLst>
              </a:tr>
              <a:tr h="32276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0.765428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93794"/>
                  </a:ext>
                </a:extLst>
              </a:tr>
            </a:tbl>
          </a:graphicData>
        </a:graphic>
      </p:graphicFrame>
      <p:sp>
        <p:nvSpPr>
          <p:cNvPr id="38" name="文字方塊 37">
            <a:extLst>
              <a:ext uri="{FF2B5EF4-FFF2-40B4-BE49-F238E27FC236}">
                <a16:creationId xmlns:a16="http://schemas.microsoft.com/office/drawing/2014/main" id="{E4001962-35D6-4731-446B-6E3AD7D09553}"/>
              </a:ext>
            </a:extLst>
          </p:cNvPr>
          <p:cNvSpPr txBox="1"/>
          <p:nvPr/>
        </p:nvSpPr>
        <p:spPr>
          <a:xfrm>
            <a:off x="9779090" y="2888128"/>
            <a:ext cx="223581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尋找有交集的專利資料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 ChatGPT)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65985D3-1BD3-6B9C-786B-339897111CE7}"/>
              </a:ext>
            </a:extLst>
          </p:cNvPr>
          <p:cNvSpPr txBox="1"/>
          <p:nvPr/>
        </p:nvSpPr>
        <p:spPr>
          <a:xfrm>
            <a:off x="3037524" y="6264499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依照相似度高低進行排序</a:t>
            </a: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A2844674-A237-47F9-398D-C72248B4692D}"/>
              </a:ext>
            </a:extLst>
          </p:cNvPr>
          <p:cNvSpPr/>
          <p:nvPr/>
        </p:nvSpPr>
        <p:spPr>
          <a:xfrm rot="943514">
            <a:off x="6299578" y="5458642"/>
            <a:ext cx="851780" cy="47032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B18EA23-39B3-8D2A-AAAC-3FFFC1E4F2A7}"/>
              </a:ext>
            </a:extLst>
          </p:cNvPr>
          <p:cNvSpPr txBox="1"/>
          <p:nvPr/>
        </p:nvSpPr>
        <p:spPr>
          <a:xfrm>
            <a:off x="10001245" y="4676598"/>
            <a:ext cx="2269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尋找有交集的專利資料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(For spaCy&amp;fastText)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E2ACB30-E300-B487-873A-C0BFAD9F2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805333"/>
              </p:ext>
            </p:extLst>
          </p:nvPr>
        </p:nvGraphicFramePr>
        <p:xfrm>
          <a:off x="7166302" y="5238456"/>
          <a:ext cx="43551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785">
                  <a:extLst>
                    <a:ext uri="{9D8B030D-6E8A-4147-A177-3AD203B41FA5}">
                      <a16:colId xmlns:a16="http://schemas.microsoft.com/office/drawing/2014/main" val="2268835797"/>
                    </a:ext>
                  </a:extLst>
                </a:gridCol>
                <a:gridCol w="1088785">
                  <a:extLst>
                    <a:ext uri="{9D8B030D-6E8A-4147-A177-3AD203B41FA5}">
                      <a16:colId xmlns:a16="http://schemas.microsoft.com/office/drawing/2014/main" val="1548070099"/>
                    </a:ext>
                  </a:extLst>
                </a:gridCol>
                <a:gridCol w="996630">
                  <a:extLst>
                    <a:ext uri="{9D8B030D-6E8A-4147-A177-3AD203B41FA5}">
                      <a16:colId xmlns:a16="http://schemas.microsoft.com/office/drawing/2014/main" val="1911469624"/>
                    </a:ext>
                  </a:extLst>
                </a:gridCol>
                <a:gridCol w="1180940">
                  <a:extLst>
                    <a:ext uri="{9D8B030D-6E8A-4147-A177-3AD203B41FA5}">
                      <a16:colId xmlns:a16="http://schemas.microsoft.com/office/drawing/2014/main" val="3042691766"/>
                    </a:ext>
                  </a:extLst>
                </a:gridCol>
              </a:tblGrid>
              <a:tr h="288409">
                <a:tc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事務所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spaCy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fastText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703433"/>
                  </a:ext>
                </a:extLst>
              </a:tr>
              <a:tr h="28840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233676"/>
                  </a:ext>
                </a:extLst>
              </a:tr>
              <a:tr h="28840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65007"/>
                  </a:ext>
                </a:extLst>
              </a:tr>
              <a:tr h="28840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0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413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06F6B908-44E9-E85B-86F1-F05590FF843E}"/>
              </a:ext>
            </a:extLst>
          </p:cNvPr>
          <p:cNvSpPr txBox="1"/>
          <p:nvPr/>
        </p:nvSpPr>
        <p:spPr>
          <a:xfrm>
            <a:off x="152051" y="12510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專利檢索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57561ED-43F8-65C1-58C6-B79F82DFF4F5}"/>
              </a:ext>
            </a:extLst>
          </p:cNvPr>
          <p:cNvSpPr txBox="1"/>
          <p:nvPr/>
        </p:nvSpPr>
        <p:spPr>
          <a:xfrm>
            <a:off x="6981229" y="718249"/>
            <a:ext cx="2593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關鍵詞組合進行排列組合</a:t>
            </a:r>
          </a:p>
        </p:txBody>
      </p: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9AB9AC3B-D4F9-DC74-BB63-2816F7C4AE52}"/>
              </a:ext>
            </a:extLst>
          </p:cNvPr>
          <p:cNvCxnSpPr>
            <a:cxnSpLocks/>
            <a:stCxn id="22" idx="2"/>
            <a:endCxn id="1026" idx="3"/>
          </p:cNvCxnSpPr>
          <p:nvPr/>
        </p:nvCxnSpPr>
        <p:spPr>
          <a:xfrm rot="5400000">
            <a:off x="8755954" y="483762"/>
            <a:ext cx="590714" cy="3452141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創業前的準備：專利檢索(Patent Search)及3個實務上常用的專利檢索系統- 育德智慧財產事務所">
            <a:extLst>
              <a:ext uri="{FF2B5EF4-FFF2-40B4-BE49-F238E27FC236}">
                <a16:creationId xmlns:a16="http://schemas.microsoft.com/office/drawing/2014/main" id="{986ACD4B-BC45-A7B4-199C-62E6690BF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153" y="2320523"/>
            <a:ext cx="1823087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0255C028-FA59-7F69-AC37-F9FAAE1D0D3C}"/>
              </a:ext>
            </a:extLst>
          </p:cNvPr>
          <p:cNvSpPr txBox="1"/>
          <p:nvPr/>
        </p:nvSpPr>
        <p:spPr>
          <a:xfrm>
            <a:off x="7766058" y="2125844"/>
            <a:ext cx="2755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撈取專利資料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94D995F9-8A38-19AB-D424-878156C83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149" y="2151152"/>
            <a:ext cx="757818" cy="715509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2875B3F5-86EE-58C5-41F2-B8F5DFD16B63}"/>
              </a:ext>
            </a:extLst>
          </p:cNvPr>
          <p:cNvSpPr txBox="1"/>
          <p:nvPr/>
        </p:nvSpPr>
        <p:spPr>
          <a:xfrm>
            <a:off x="3848099" y="2097009"/>
            <a:ext cx="1712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資料儲存到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3589B26-5A57-9C43-8DCD-392846A5371A}"/>
              </a:ext>
            </a:extLst>
          </p:cNvPr>
          <p:cNvSpPr txBox="1"/>
          <p:nvPr/>
        </p:nvSpPr>
        <p:spPr>
          <a:xfrm>
            <a:off x="2058585" y="586341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↑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專利草稿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E4001962-35D6-4731-446B-6E3AD7D09553}"/>
              </a:ext>
            </a:extLst>
          </p:cNvPr>
          <p:cNvSpPr txBox="1"/>
          <p:nvPr/>
        </p:nvSpPr>
        <p:spPr>
          <a:xfrm>
            <a:off x="9440129" y="3258685"/>
            <a:ext cx="1472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 ChatGPT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65985D3-1BD3-6B9C-786B-339897111CE7}"/>
              </a:ext>
            </a:extLst>
          </p:cNvPr>
          <p:cNvSpPr txBox="1"/>
          <p:nvPr/>
        </p:nvSpPr>
        <p:spPr>
          <a:xfrm>
            <a:off x="3950077" y="3692927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依照相似度高低進行排序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B18EA23-39B3-8D2A-AAAC-3FFFC1E4F2A7}"/>
              </a:ext>
            </a:extLst>
          </p:cNvPr>
          <p:cNvSpPr txBox="1"/>
          <p:nvPr/>
        </p:nvSpPr>
        <p:spPr>
          <a:xfrm>
            <a:off x="9326959" y="4723669"/>
            <a:ext cx="2240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 </a:t>
            </a:r>
            <a:r>
              <a:rPr lang="en-US" altLang="zh-TW" sz="1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spaCy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fastText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D2C7EB54-1B0F-F496-7646-01259204F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4813" y="242619"/>
            <a:ext cx="2525136" cy="1671856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7BFA88FD-4B5F-2847-F028-57E580ED99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4187" y="4006091"/>
            <a:ext cx="1993461" cy="1513403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08CFEB75-5598-AA2E-95B9-F74BD077B0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2818" y="3573495"/>
            <a:ext cx="1806912" cy="1127514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DE1B2E7E-A1CF-D6C8-D343-81480A603C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5027516"/>
            <a:ext cx="2967795" cy="1112235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689AF518-83AA-FB17-DE04-3ADDF879D9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8585" y="549425"/>
            <a:ext cx="2645614" cy="1058245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A34E9BE3-CAC6-571B-D92B-8FF698463B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579" y="704737"/>
            <a:ext cx="1329108" cy="747623"/>
          </a:xfrm>
          <a:prstGeom prst="rect">
            <a:avLst/>
          </a:prstGeom>
        </p:spPr>
      </p:pic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C40FF6D4-522A-386B-762C-B700412130EF}"/>
              </a:ext>
            </a:extLst>
          </p:cNvPr>
          <p:cNvCxnSpPr>
            <a:stCxn id="40" idx="3"/>
            <a:endCxn id="35" idx="1"/>
          </p:cNvCxnSpPr>
          <p:nvPr/>
        </p:nvCxnSpPr>
        <p:spPr>
          <a:xfrm flipV="1">
            <a:off x="1655687" y="1078548"/>
            <a:ext cx="402898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34A470B8-8E90-4342-6E2A-8C650547C771}"/>
              </a:ext>
            </a:extLst>
          </p:cNvPr>
          <p:cNvSpPr/>
          <p:nvPr/>
        </p:nvSpPr>
        <p:spPr>
          <a:xfrm>
            <a:off x="5160918" y="823881"/>
            <a:ext cx="1843586" cy="509332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產生關鍵字組合</a:t>
            </a:r>
          </a:p>
        </p:txBody>
      </p: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8DA66C82-B41E-EA27-3ED4-31983B4C6A40}"/>
              </a:ext>
            </a:extLst>
          </p:cNvPr>
          <p:cNvCxnSpPr>
            <a:cxnSpLocks/>
            <a:stCxn id="35" idx="3"/>
            <a:endCxn id="49" idx="1"/>
          </p:cNvCxnSpPr>
          <p:nvPr/>
        </p:nvCxnSpPr>
        <p:spPr>
          <a:xfrm flipV="1">
            <a:off x="4704199" y="1078547"/>
            <a:ext cx="456719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A1CC1D76-D949-47CD-734A-E11FF9CE603B}"/>
              </a:ext>
            </a:extLst>
          </p:cNvPr>
          <p:cNvCxnSpPr>
            <a:cxnSpLocks/>
            <a:stCxn id="49" idx="3"/>
            <a:endCxn id="22" idx="1"/>
          </p:cNvCxnSpPr>
          <p:nvPr/>
        </p:nvCxnSpPr>
        <p:spPr>
          <a:xfrm>
            <a:off x="7004504" y="1078547"/>
            <a:ext cx="251030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直線單箭頭接點 1050">
            <a:extLst>
              <a:ext uri="{FF2B5EF4-FFF2-40B4-BE49-F238E27FC236}">
                <a16:creationId xmlns:a16="http://schemas.microsoft.com/office/drawing/2014/main" id="{02838E83-7DF2-56A8-BD41-B9AB761C4E0E}"/>
              </a:ext>
            </a:extLst>
          </p:cNvPr>
          <p:cNvCxnSpPr>
            <a:cxnSpLocks/>
            <a:stCxn id="1061" idx="3"/>
            <a:endCxn id="33" idx="1"/>
          </p:cNvCxnSpPr>
          <p:nvPr/>
        </p:nvCxnSpPr>
        <p:spPr>
          <a:xfrm flipV="1">
            <a:off x="8361425" y="4137252"/>
            <a:ext cx="911393" cy="6357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直線單箭頭接點 1053">
            <a:extLst>
              <a:ext uri="{FF2B5EF4-FFF2-40B4-BE49-F238E27FC236}">
                <a16:creationId xmlns:a16="http://schemas.microsoft.com/office/drawing/2014/main" id="{368AB25B-A3A4-10FA-A1B6-9B9582CD52CC}"/>
              </a:ext>
            </a:extLst>
          </p:cNvPr>
          <p:cNvCxnSpPr>
            <a:cxnSpLocks/>
            <a:stCxn id="1061" idx="3"/>
            <a:endCxn id="34" idx="1"/>
          </p:cNvCxnSpPr>
          <p:nvPr/>
        </p:nvCxnSpPr>
        <p:spPr>
          <a:xfrm>
            <a:off x="8361425" y="4772953"/>
            <a:ext cx="782575" cy="81068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6" name="矩形: 圓角 1065">
            <a:extLst>
              <a:ext uri="{FF2B5EF4-FFF2-40B4-BE49-F238E27FC236}">
                <a16:creationId xmlns:a16="http://schemas.microsoft.com/office/drawing/2014/main" id="{097D5658-2163-F83B-40EC-2A2F14862800}"/>
              </a:ext>
            </a:extLst>
          </p:cNvPr>
          <p:cNvSpPr/>
          <p:nvPr/>
        </p:nvSpPr>
        <p:spPr>
          <a:xfrm>
            <a:off x="326579" y="2194091"/>
            <a:ext cx="1820168" cy="582925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依照八個專利構面產生段落</a:t>
            </a:r>
          </a:p>
        </p:txBody>
      </p:sp>
      <p:cxnSp>
        <p:nvCxnSpPr>
          <p:cNvPr id="1070" name="直線單箭頭接點 1069">
            <a:extLst>
              <a:ext uri="{FF2B5EF4-FFF2-40B4-BE49-F238E27FC236}">
                <a16:creationId xmlns:a16="http://schemas.microsoft.com/office/drawing/2014/main" id="{77866C4B-F5D4-10F6-057A-7EC7B778BDF8}"/>
              </a:ext>
            </a:extLst>
          </p:cNvPr>
          <p:cNvCxnSpPr>
            <a:cxnSpLocks/>
            <a:stCxn id="1026" idx="1"/>
            <a:endCxn id="24" idx="3"/>
          </p:cNvCxnSpPr>
          <p:nvPr/>
        </p:nvCxnSpPr>
        <p:spPr>
          <a:xfrm flipH="1">
            <a:off x="3735967" y="2505189"/>
            <a:ext cx="1766186" cy="371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直線單箭頭接點 1080">
            <a:extLst>
              <a:ext uri="{FF2B5EF4-FFF2-40B4-BE49-F238E27FC236}">
                <a16:creationId xmlns:a16="http://schemas.microsoft.com/office/drawing/2014/main" id="{AE3B084A-BBEA-80EB-7773-00E271915432}"/>
              </a:ext>
            </a:extLst>
          </p:cNvPr>
          <p:cNvCxnSpPr>
            <a:cxnSpLocks/>
            <a:stCxn id="1066" idx="2"/>
            <a:endCxn id="48" idx="0"/>
          </p:cNvCxnSpPr>
          <p:nvPr/>
        </p:nvCxnSpPr>
        <p:spPr>
          <a:xfrm flipH="1">
            <a:off x="1232985" y="2777016"/>
            <a:ext cx="3678" cy="163624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C5996EB2-539B-342C-210E-6BD211E88F28}"/>
              </a:ext>
            </a:extLst>
          </p:cNvPr>
          <p:cNvCxnSpPr>
            <a:stCxn id="24" idx="1"/>
            <a:endCxn id="1066" idx="3"/>
          </p:cNvCxnSpPr>
          <p:nvPr/>
        </p:nvCxnSpPr>
        <p:spPr>
          <a:xfrm flipH="1" flipV="1">
            <a:off x="2146747" y="2485554"/>
            <a:ext cx="831402" cy="233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圖片 47">
            <a:extLst>
              <a:ext uri="{FF2B5EF4-FFF2-40B4-BE49-F238E27FC236}">
                <a16:creationId xmlns:a16="http://schemas.microsoft.com/office/drawing/2014/main" id="{851757A1-1744-29DC-E3F9-4C453E5FED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000" y="4413258"/>
            <a:ext cx="755970" cy="719390"/>
          </a:xfrm>
          <a:prstGeom prst="rect">
            <a:avLst/>
          </a:prstGeom>
        </p:spPr>
      </p:pic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B9AF7A7A-3510-D8E0-593B-5E19E55F7A95}"/>
              </a:ext>
            </a:extLst>
          </p:cNvPr>
          <p:cNvSpPr/>
          <p:nvPr/>
        </p:nvSpPr>
        <p:spPr>
          <a:xfrm>
            <a:off x="2015726" y="3662175"/>
            <a:ext cx="1720241" cy="2201237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進行比對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ChatGPT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spaCy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fastText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構面與構面比對產生相似度</a:t>
            </a:r>
          </a:p>
          <a:p>
            <a:pPr algn="ctr"/>
            <a:endParaRPr lang="zh-TW" altLang="en-US" b="1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2042DBF8-3C2C-DA2E-22A0-5BFDB3340D66}"/>
              </a:ext>
            </a:extLst>
          </p:cNvPr>
          <p:cNvCxnSpPr>
            <a:cxnSpLocks/>
            <a:stCxn id="48" idx="3"/>
            <a:endCxn id="53" idx="1"/>
          </p:cNvCxnSpPr>
          <p:nvPr/>
        </p:nvCxnSpPr>
        <p:spPr>
          <a:xfrm flipV="1">
            <a:off x="1610970" y="4762794"/>
            <a:ext cx="404756" cy="101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直線單箭頭接點 1034">
            <a:extLst>
              <a:ext uri="{FF2B5EF4-FFF2-40B4-BE49-F238E27FC236}">
                <a16:creationId xmlns:a16="http://schemas.microsoft.com/office/drawing/2014/main" id="{D48C84B1-5732-D078-EBDB-26F3187F1CEB}"/>
              </a:ext>
            </a:extLst>
          </p:cNvPr>
          <p:cNvCxnSpPr>
            <a:cxnSpLocks/>
            <a:stCxn id="53" idx="3"/>
            <a:endCxn id="31" idx="1"/>
          </p:cNvCxnSpPr>
          <p:nvPr/>
        </p:nvCxnSpPr>
        <p:spPr>
          <a:xfrm flipV="1">
            <a:off x="3735967" y="4762793"/>
            <a:ext cx="428220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文字方塊 1046">
            <a:extLst>
              <a:ext uri="{FF2B5EF4-FFF2-40B4-BE49-F238E27FC236}">
                <a16:creationId xmlns:a16="http://schemas.microsoft.com/office/drawing/2014/main" id="{890CACAB-A789-57A8-413B-3007D6685023}"/>
              </a:ext>
            </a:extLst>
          </p:cNvPr>
          <p:cNvSpPr txBox="1"/>
          <p:nvPr/>
        </p:nvSpPr>
        <p:spPr>
          <a:xfrm>
            <a:off x="0" y="3131885"/>
            <a:ext cx="1314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產生存有八個構面資料的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</a:t>
            </a:r>
          </a:p>
        </p:txBody>
      </p:sp>
      <p:sp>
        <p:nvSpPr>
          <p:cNvPr id="1061" name="矩形: 圓角 1060">
            <a:extLst>
              <a:ext uri="{FF2B5EF4-FFF2-40B4-BE49-F238E27FC236}">
                <a16:creationId xmlns:a16="http://schemas.microsoft.com/office/drawing/2014/main" id="{38BA694E-23E7-4105-EF88-F0F001F4489A}"/>
              </a:ext>
            </a:extLst>
          </p:cNvPr>
          <p:cNvSpPr/>
          <p:nvPr/>
        </p:nvSpPr>
        <p:spPr>
          <a:xfrm>
            <a:off x="6486093" y="4467256"/>
            <a:ext cx="1875332" cy="611394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統計排序範圍內交集的專利筆數</a:t>
            </a:r>
          </a:p>
        </p:txBody>
      </p:sp>
      <p:cxnSp>
        <p:nvCxnSpPr>
          <p:cNvPr id="1096" name="直線單箭頭接點 1095">
            <a:extLst>
              <a:ext uri="{FF2B5EF4-FFF2-40B4-BE49-F238E27FC236}">
                <a16:creationId xmlns:a16="http://schemas.microsoft.com/office/drawing/2014/main" id="{FDA0079B-12FE-3E5D-F50E-DE7D5A856945}"/>
              </a:ext>
            </a:extLst>
          </p:cNvPr>
          <p:cNvCxnSpPr>
            <a:stCxn id="31" idx="3"/>
            <a:endCxn id="1061" idx="1"/>
          </p:cNvCxnSpPr>
          <p:nvPr/>
        </p:nvCxnSpPr>
        <p:spPr>
          <a:xfrm>
            <a:off x="6157648" y="4762793"/>
            <a:ext cx="328445" cy="1016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706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06F6B908-44E9-E85B-86F1-F05590FF843E}"/>
              </a:ext>
            </a:extLst>
          </p:cNvPr>
          <p:cNvSpPr txBox="1"/>
          <p:nvPr/>
        </p:nvSpPr>
        <p:spPr>
          <a:xfrm>
            <a:off x="152051" y="12510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專利檢索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57561ED-43F8-65C1-58C6-B79F82DFF4F5}"/>
              </a:ext>
            </a:extLst>
          </p:cNvPr>
          <p:cNvSpPr txBox="1"/>
          <p:nvPr/>
        </p:nvSpPr>
        <p:spPr>
          <a:xfrm>
            <a:off x="6981229" y="718249"/>
            <a:ext cx="2593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關鍵詞組合進行排列組合</a:t>
            </a:r>
          </a:p>
        </p:txBody>
      </p: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9AB9AC3B-D4F9-DC74-BB63-2816F7C4AE52}"/>
              </a:ext>
            </a:extLst>
          </p:cNvPr>
          <p:cNvCxnSpPr>
            <a:cxnSpLocks/>
            <a:stCxn id="22" idx="2"/>
            <a:endCxn id="1026" idx="3"/>
          </p:cNvCxnSpPr>
          <p:nvPr/>
        </p:nvCxnSpPr>
        <p:spPr>
          <a:xfrm rot="5400000">
            <a:off x="8755954" y="483762"/>
            <a:ext cx="590714" cy="3452141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創業前的準備：專利檢索(Patent Search)及3個實務上常用的專利檢索系統- 育德智慧財產事務所">
            <a:extLst>
              <a:ext uri="{FF2B5EF4-FFF2-40B4-BE49-F238E27FC236}">
                <a16:creationId xmlns:a16="http://schemas.microsoft.com/office/drawing/2014/main" id="{986ACD4B-BC45-A7B4-199C-62E6690BF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153" y="2320523"/>
            <a:ext cx="1823087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0255C028-FA59-7F69-AC37-F9FAAE1D0D3C}"/>
              </a:ext>
            </a:extLst>
          </p:cNvPr>
          <p:cNvSpPr txBox="1"/>
          <p:nvPr/>
        </p:nvSpPr>
        <p:spPr>
          <a:xfrm>
            <a:off x="7766058" y="2125844"/>
            <a:ext cx="2755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撈取專利資料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94D995F9-8A38-19AB-D424-878156C83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149" y="2151152"/>
            <a:ext cx="757818" cy="715509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2875B3F5-86EE-58C5-41F2-B8F5DFD16B63}"/>
              </a:ext>
            </a:extLst>
          </p:cNvPr>
          <p:cNvSpPr txBox="1"/>
          <p:nvPr/>
        </p:nvSpPr>
        <p:spPr>
          <a:xfrm>
            <a:off x="3848099" y="2097009"/>
            <a:ext cx="1712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資料儲存到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3589B26-5A57-9C43-8DCD-392846A5371A}"/>
              </a:ext>
            </a:extLst>
          </p:cNvPr>
          <p:cNvSpPr txBox="1"/>
          <p:nvPr/>
        </p:nvSpPr>
        <p:spPr>
          <a:xfrm>
            <a:off x="2397644" y="6308575"/>
            <a:ext cx="1057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↑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專利草稿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E4001962-35D6-4731-446B-6E3AD7D09553}"/>
              </a:ext>
            </a:extLst>
          </p:cNvPr>
          <p:cNvSpPr txBox="1"/>
          <p:nvPr/>
        </p:nvSpPr>
        <p:spPr>
          <a:xfrm>
            <a:off x="9305091" y="3959560"/>
            <a:ext cx="1472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 ChatGPT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65985D3-1BD3-6B9C-786B-339897111CE7}"/>
              </a:ext>
            </a:extLst>
          </p:cNvPr>
          <p:cNvSpPr txBox="1"/>
          <p:nvPr/>
        </p:nvSpPr>
        <p:spPr>
          <a:xfrm>
            <a:off x="3968984" y="4158942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依照相似度高低進行排序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B18EA23-39B3-8D2A-AAAC-3FFFC1E4F2A7}"/>
              </a:ext>
            </a:extLst>
          </p:cNvPr>
          <p:cNvSpPr txBox="1"/>
          <p:nvPr/>
        </p:nvSpPr>
        <p:spPr>
          <a:xfrm>
            <a:off x="9366697" y="5440899"/>
            <a:ext cx="2240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 </a:t>
            </a:r>
            <a:r>
              <a:rPr lang="en-US" altLang="zh-TW" sz="1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spaCy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fastText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D2C7EB54-1B0F-F496-7646-01259204F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4813" y="242619"/>
            <a:ext cx="2525136" cy="1671856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7BFA88FD-4B5F-2847-F028-57E580ED99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154" y="4451358"/>
            <a:ext cx="1993461" cy="1513403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08CFEB75-5598-AA2E-95B9-F74BD077B0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5866" y="4217881"/>
            <a:ext cx="1806912" cy="1127514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DE1B2E7E-A1CF-D6C8-D343-81480A603C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1107" y="5742610"/>
            <a:ext cx="2967795" cy="1112235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689AF518-83AA-FB17-DE04-3ADDF879D9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8585" y="549425"/>
            <a:ext cx="2645614" cy="1058245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A34E9BE3-CAC6-571B-D92B-8FF698463B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579" y="704737"/>
            <a:ext cx="1329108" cy="747623"/>
          </a:xfrm>
          <a:prstGeom prst="rect">
            <a:avLst/>
          </a:prstGeom>
        </p:spPr>
      </p:pic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C40FF6D4-522A-386B-762C-B700412130EF}"/>
              </a:ext>
            </a:extLst>
          </p:cNvPr>
          <p:cNvCxnSpPr>
            <a:stCxn id="40" idx="3"/>
            <a:endCxn id="35" idx="1"/>
          </p:cNvCxnSpPr>
          <p:nvPr/>
        </p:nvCxnSpPr>
        <p:spPr>
          <a:xfrm flipV="1">
            <a:off x="1655687" y="1078548"/>
            <a:ext cx="402898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34A470B8-8E90-4342-6E2A-8C650547C771}"/>
              </a:ext>
            </a:extLst>
          </p:cNvPr>
          <p:cNvSpPr/>
          <p:nvPr/>
        </p:nvSpPr>
        <p:spPr>
          <a:xfrm>
            <a:off x="5160918" y="823881"/>
            <a:ext cx="1843586" cy="509332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產生關鍵字組合</a:t>
            </a:r>
          </a:p>
        </p:txBody>
      </p: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8DA66C82-B41E-EA27-3ED4-31983B4C6A40}"/>
              </a:ext>
            </a:extLst>
          </p:cNvPr>
          <p:cNvCxnSpPr>
            <a:cxnSpLocks/>
            <a:stCxn id="35" idx="3"/>
            <a:endCxn id="49" idx="1"/>
          </p:cNvCxnSpPr>
          <p:nvPr/>
        </p:nvCxnSpPr>
        <p:spPr>
          <a:xfrm flipV="1">
            <a:off x="4704199" y="1078547"/>
            <a:ext cx="456719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A1CC1D76-D949-47CD-734A-E11FF9CE603B}"/>
              </a:ext>
            </a:extLst>
          </p:cNvPr>
          <p:cNvCxnSpPr>
            <a:cxnSpLocks/>
            <a:stCxn id="49" idx="3"/>
            <a:endCxn id="22" idx="1"/>
          </p:cNvCxnSpPr>
          <p:nvPr/>
        </p:nvCxnSpPr>
        <p:spPr>
          <a:xfrm>
            <a:off x="7004504" y="1078547"/>
            <a:ext cx="251030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直線單箭頭接點 1050">
            <a:extLst>
              <a:ext uri="{FF2B5EF4-FFF2-40B4-BE49-F238E27FC236}">
                <a16:creationId xmlns:a16="http://schemas.microsoft.com/office/drawing/2014/main" id="{02838E83-7DF2-56A8-BD41-B9AB761C4E0E}"/>
              </a:ext>
            </a:extLst>
          </p:cNvPr>
          <p:cNvCxnSpPr>
            <a:cxnSpLocks/>
            <a:stCxn id="1061" idx="3"/>
            <a:endCxn id="33" idx="1"/>
          </p:cNvCxnSpPr>
          <p:nvPr/>
        </p:nvCxnSpPr>
        <p:spPr>
          <a:xfrm flipV="1">
            <a:off x="8392852" y="4781638"/>
            <a:ext cx="853014" cy="42701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直線單箭頭接點 1053">
            <a:extLst>
              <a:ext uri="{FF2B5EF4-FFF2-40B4-BE49-F238E27FC236}">
                <a16:creationId xmlns:a16="http://schemas.microsoft.com/office/drawing/2014/main" id="{368AB25B-A3A4-10FA-A1B6-9B9582CD52CC}"/>
              </a:ext>
            </a:extLst>
          </p:cNvPr>
          <p:cNvCxnSpPr>
            <a:cxnSpLocks/>
            <a:stCxn id="1061" idx="3"/>
            <a:endCxn id="34" idx="1"/>
          </p:cNvCxnSpPr>
          <p:nvPr/>
        </p:nvCxnSpPr>
        <p:spPr>
          <a:xfrm>
            <a:off x="8392852" y="5208652"/>
            <a:ext cx="658255" cy="109007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6" name="矩形: 圓角 1065">
            <a:extLst>
              <a:ext uri="{FF2B5EF4-FFF2-40B4-BE49-F238E27FC236}">
                <a16:creationId xmlns:a16="http://schemas.microsoft.com/office/drawing/2014/main" id="{097D5658-2163-F83B-40EC-2A2F14862800}"/>
              </a:ext>
            </a:extLst>
          </p:cNvPr>
          <p:cNvSpPr/>
          <p:nvPr/>
        </p:nvSpPr>
        <p:spPr>
          <a:xfrm>
            <a:off x="326579" y="2194091"/>
            <a:ext cx="1820168" cy="582925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依照八個專利構面產生段落</a:t>
            </a:r>
          </a:p>
        </p:txBody>
      </p:sp>
      <p:cxnSp>
        <p:nvCxnSpPr>
          <p:cNvPr id="1070" name="直線單箭頭接點 1069">
            <a:extLst>
              <a:ext uri="{FF2B5EF4-FFF2-40B4-BE49-F238E27FC236}">
                <a16:creationId xmlns:a16="http://schemas.microsoft.com/office/drawing/2014/main" id="{77866C4B-F5D4-10F6-057A-7EC7B778BDF8}"/>
              </a:ext>
            </a:extLst>
          </p:cNvPr>
          <p:cNvCxnSpPr>
            <a:cxnSpLocks/>
            <a:stCxn id="1026" idx="1"/>
            <a:endCxn id="24" idx="3"/>
          </p:cNvCxnSpPr>
          <p:nvPr/>
        </p:nvCxnSpPr>
        <p:spPr>
          <a:xfrm flipH="1">
            <a:off x="3735967" y="2505189"/>
            <a:ext cx="1766186" cy="371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直線單箭頭接點 1080">
            <a:extLst>
              <a:ext uri="{FF2B5EF4-FFF2-40B4-BE49-F238E27FC236}">
                <a16:creationId xmlns:a16="http://schemas.microsoft.com/office/drawing/2014/main" id="{AE3B084A-BBEA-80EB-7773-00E271915432}"/>
              </a:ext>
            </a:extLst>
          </p:cNvPr>
          <p:cNvCxnSpPr>
            <a:cxnSpLocks/>
            <a:stCxn id="1066" idx="2"/>
            <a:endCxn id="48" idx="0"/>
          </p:cNvCxnSpPr>
          <p:nvPr/>
        </p:nvCxnSpPr>
        <p:spPr>
          <a:xfrm flipH="1">
            <a:off x="1209521" y="2777016"/>
            <a:ext cx="27142" cy="207135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C5996EB2-539B-342C-210E-6BD211E88F28}"/>
              </a:ext>
            </a:extLst>
          </p:cNvPr>
          <p:cNvCxnSpPr>
            <a:stCxn id="24" idx="1"/>
            <a:endCxn id="1066" idx="3"/>
          </p:cNvCxnSpPr>
          <p:nvPr/>
        </p:nvCxnSpPr>
        <p:spPr>
          <a:xfrm flipH="1" flipV="1">
            <a:off x="2146747" y="2485554"/>
            <a:ext cx="831402" cy="233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圖片 47">
            <a:extLst>
              <a:ext uri="{FF2B5EF4-FFF2-40B4-BE49-F238E27FC236}">
                <a16:creationId xmlns:a16="http://schemas.microsoft.com/office/drawing/2014/main" id="{851757A1-1744-29DC-E3F9-4C453E5FED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536" y="4848366"/>
            <a:ext cx="755970" cy="719390"/>
          </a:xfrm>
          <a:prstGeom prst="rect">
            <a:avLst/>
          </a:prstGeom>
        </p:spPr>
      </p:pic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B9AF7A7A-3510-D8E0-593B-5E19E55F7A95}"/>
              </a:ext>
            </a:extLst>
          </p:cNvPr>
          <p:cNvSpPr/>
          <p:nvPr/>
        </p:nvSpPr>
        <p:spPr>
          <a:xfrm>
            <a:off x="2050008" y="4107442"/>
            <a:ext cx="1720241" cy="2201237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進行比對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ChatGPT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spaCy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fastText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構面與構面比對產生相似度</a:t>
            </a:r>
          </a:p>
          <a:p>
            <a:pPr algn="ctr"/>
            <a:endParaRPr lang="zh-TW" altLang="en-US" b="1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2042DBF8-3C2C-DA2E-22A0-5BFDB3340D66}"/>
              </a:ext>
            </a:extLst>
          </p:cNvPr>
          <p:cNvCxnSpPr>
            <a:cxnSpLocks/>
            <a:stCxn id="48" idx="3"/>
            <a:endCxn id="53" idx="1"/>
          </p:cNvCxnSpPr>
          <p:nvPr/>
        </p:nvCxnSpPr>
        <p:spPr>
          <a:xfrm>
            <a:off x="1587506" y="5208061"/>
            <a:ext cx="46250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直線單箭頭接點 1034">
            <a:extLst>
              <a:ext uri="{FF2B5EF4-FFF2-40B4-BE49-F238E27FC236}">
                <a16:creationId xmlns:a16="http://schemas.microsoft.com/office/drawing/2014/main" id="{D48C84B1-5732-D078-EBDB-26F3187F1CEB}"/>
              </a:ext>
            </a:extLst>
          </p:cNvPr>
          <p:cNvCxnSpPr>
            <a:cxnSpLocks/>
            <a:stCxn id="53" idx="3"/>
            <a:endCxn id="31" idx="1"/>
          </p:cNvCxnSpPr>
          <p:nvPr/>
        </p:nvCxnSpPr>
        <p:spPr>
          <a:xfrm flipV="1">
            <a:off x="3770249" y="5208060"/>
            <a:ext cx="376905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文字方塊 1046">
            <a:extLst>
              <a:ext uri="{FF2B5EF4-FFF2-40B4-BE49-F238E27FC236}">
                <a16:creationId xmlns:a16="http://schemas.microsoft.com/office/drawing/2014/main" id="{890CACAB-A789-57A8-413B-3007D6685023}"/>
              </a:ext>
            </a:extLst>
          </p:cNvPr>
          <p:cNvSpPr txBox="1"/>
          <p:nvPr/>
        </p:nvSpPr>
        <p:spPr>
          <a:xfrm>
            <a:off x="0" y="3131885"/>
            <a:ext cx="1314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產生存有八個構面資料的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</a:t>
            </a:r>
          </a:p>
        </p:txBody>
      </p:sp>
      <p:sp>
        <p:nvSpPr>
          <p:cNvPr id="1061" name="矩形: 圓角 1060">
            <a:extLst>
              <a:ext uri="{FF2B5EF4-FFF2-40B4-BE49-F238E27FC236}">
                <a16:creationId xmlns:a16="http://schemas.microsoft.com/office/drawing/2014/main" id="{38BA694E-23E7-4105-EF88-F0F001F4489A}"/>
              </a:ext>
            </a:extLst>
          </p:cNvPr>
          <p:cNvSpPr/>
          <p:nvPr/>
        </p:nvSpPr>
        <p:spPr>
          <a:xfrm>
            <a:off x="6517520" y="4902955"/>
            <a:ext cx="1875332" cy="611394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統計排序範圍內交集的專利筆數</a:t>
            </a:r>
          </a:p>
        </p:txBody>
      </p:sp>
      <p:cxnSp>
        <p:nvCxnSpPr>
          <p:cNvPr id="1096" name="直線單箭頭接點 1095">
            <a:extLst>
              <a:ext uri="{FF2B5EF4-FFF2-40B4-BE49-F238E27FC236}">
                <a16:creationId xmlns:a16="http://schemas.microsoft.com/office/drawing/2014/main" id="{FDA0079B-12FE-3E5D-F50E-DE7D5A856945}"/>
              </a:ext>
            </a:extLst>
          </p:cNvPr>
          <p:cNvCxnSpPr>
            <a:stCxn id="31" idx="3"/>
            <a:endCxn id="1061" idx="1"/>
          </p:cNvCxnSpPr>
          <p:nvPr/>
        </p:nvCxnSpPr>
        <p:spPr>
          <a:xfrm>
            <a:off x="6140615" y="5208060"/>
            <a:ext cx="376905" cy="59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0E073E41-F326-B4D4-652D-8A3F98325A22}"/>
              </a:ext>
            </a:extLst>
          </p:cNvPr>
          <p:cNvSpPr/>
          <p:nvPr/>
        </p:nvSpPr>
        <p:spPr>
          <a:xfrm>
            <a:off x="6053860" y="3145753"/>
            <a:ext cx="2205798" cy="509332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專利文件</a:t>
            </a: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Q&amp;A</a:t>
            </a:r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995FBE2-2F1C-9EC1-795B-014BF8B4E15A}"/>
              </a:ext>
            </a:extLst>
          </p:cNvPr>
          <p:cNvSpPr txBox="1"/>
          <p:nvPr/>
        </p:nvSpPr>
        <p:spPr>
          <a:xfrm>
            <a:off x="2194736" y="2941878"/>
            <a:ext cx="13147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將資料放到資料夾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ED7EF2B-9414-0313-9B29-A6C6C1E362DA}"/>
              </a:ext>
            </a:extLst>
          </p:cNvPr>
          <p:cNvSpPr/>
          <p:nvPr/>
        </p:nvSpPr>
        <p:spPr>
          <a:xfrm>
            <a:off x="3794113" y="3109766"/>
            <a:ext cx="1766186" cy="593319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資料夾資料上傳至雲端</a:t>
            </a:r>
          </a:p>
        </p:txBody>
      </p: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C4BBFB50-E85A-F6A4-AF04-E49E55F4AB5B}"/>
              </a:ext>
            </a:extLst>
          </p:cNvPr>
          <p:cNvCxnSpPr>
            <a:cxnSpLocks/>
            <a:stCxn id="24" idx="2"/>
            <a:endCxn id="9" idx="1"/>
          </p:cNvCxnSpPr>
          <p:nvPr/>
        </p:nvCxnSpPr>
        <p:spPr>
          <a:xfrm rot="16200000" flipH="1">
            <a:off x="3305703" y="2918015"/>
            <a:ext cx="539765" cy="437055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BF94CE18-4024-24A5-21D7-84A7975E0AE9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 flipV="1">
            <a:off x="5560299" y="3400419"/>
            <a:ext cx="493561" cy="600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6FB990F-26AF-D5D4-9669-EA990204082D}"/>
              </a:ext>
            </a:extLst>
          </p:cNvPr>
          <p:cNvSpPr txBox="1"/>
          <p:nvPr/>
        </p:nvSpPr>
        <p:spPr>
          <a:xfrm>
            <a:off x="8291936" y="3019001"/>
            <a:ext cx="2453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對文件進行問答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4064287-CC5C-2C42-083D-CE5F97152D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77381" y="2973616"/>
            <a:ext cx="1213465" cy="910768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BEDB2B71-FD17-BE42-E266-5C7D8DBDBDAB}"/>
              </a:ext>
            </a:extLst>
          </p:cNvPr>
          <p:cNvCxnSpPr>
            <a:stCxn id="4" idx="1"/>
            <a:endCxn id="2" idx="3"/>
          </p:cNvCxnSpPr>
          <p:nvPr/>
        </p:nvCxnSpPr>
        <p:spPr>
          <a:xfrm flipH="1" flipV="1">
            <a:off x="8259658" y="3400419"/>
            <a:ext cx="2517723" cy="2858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EEDBED6-7EC2-9E90-79A0-FEBD57A4764A}"/>
              </a:ext>
            </a:extLst>
          </p:cNvPr>
          <p:cNvSpPr txBox="1"/>
          <p:nvPr/>
        </p:nvSpPr>
        <p:spPr>
          <a:xfrm>
            <a:off x="10963372" y="2704786"/>
            <a:ext cx="902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</a:t>
            </a:r>
          </a:p>
        </p:txBody>
      </p:sp>
    </p:spTree>
    <p:extLst>
      <p:ext uri="{BB962C8B-B14F-4D97-AF65-F5344CB8AC3E}">
        <p14:creationId xmlns:p14="http://schemas.microsoft.com/office/powerpoint/2010/main" val="326938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5DFBCEE-88B7-7CF8-3386-A10AD6E3E5AC}"/>
              </a:ext>
            </a:extLst>
          </p:cNvPr>
          <p:cNvSpPr/>
          <p:nvPr/>
        </p:nvSpPr>
        <p:spPr>
          <a:xfrm>
            <a:off x="387775" y="402378"/>
            <a:ext cx="1153643" cy="52073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ChatGPT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ED0E0FB2-D59A-EB3A-2081-765C297F117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541418" y="662744"/>
            <a:ext cx="49638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圖片 8">
            <a:extLst>
              <a:ext uri="{FF2B5EF4-FFF2-40B4-BE49-F238E27FC236}">
                <a16:creationId xmlns:a16="http://schemas.microsoft.com/office/drawing/2014/main" id="{DDA9FBC2-E471-CC00-CC0F-C57045750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806" y="172721"/>
            <a:ext cx="2781187" cy="111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36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E65BB5D-F864-5715-B35A-EC589A47C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268081"/>
              </p:ext>
            </p:extLst>
          </p:nvPr>
        </p:nvGraphicFramePr>
        <p:xfrm>
          <a:off x="448734" y="732364"/>
          <a:ext cx="3124200" cy="53932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3040373089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873133526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753162272"/>
                    </a:ext>
                  </a:extLst>
                </a:gridCol>
              </a:tblGrid>
              <a:tr h="4818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事務所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spaCy</a:t>
                      </a:r>
                      <a:endParaRPr lang="en-US" altLang="zh-TW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097402"/>
                  </a:ext>
                </a:extLst>
              </a:tr>
              <a:tr h="7016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384761"/>
                  </a:ext>
                </a:extLst>
              </a:tr>
              <a:tr h="7016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146080"/>
                  </a:ext>
                </a:extLst>
              </a:tr>
              <a:tr h="7016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385945"/>
                  </a:ext>
                </a:extLst>
              </a:tr>
              <a:tr h="7016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326808"/>
                  </a:ext>
                </a:extLst>
              </a:tr>
              <a:tr h="7016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300114"/>
                  </a:ext>
                </a:extLst>
              </a:tr>
              <a:tr h="7016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125334"/>
                  </a:ext>
                </a:extLst>
              </a:tr>
              <a:tr h="7016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396555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1D988D1D-0112-C89B-B4A1-3E8632BB40CC}"/>
              </a:ext>
            </a:extLst>
          </p:cNvPr>
          <p:cNvSpPr txBox="1"/>
          <p:nvPr/>
        </p:nvSpPr>
        <p:spPr>
          <a:xfrm>
            <a:off x="3716868" y="541866"/>
            <a:ext cx="1684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名次變化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25ABC7A-673E-C669-2F88-C9BC10A4381B}"/>
              </a:ext>
            </a:extLst>
          </p:cNvPr>
          <p:cNvSpPr txBox="1"/>
          <p:nvPr/>
        </p:nvSpPr>
        <p:spPr>
          <a:xfrm>
            <a:off x="3916335" y="1316566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1→1	0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0F2146C-6155-B16B-4252-935FA603517C}"/>
              </a:ext>
            </a:extLst>
          </p:cNvPr>
          <p:cNvSpPr txBox="1"/>
          <p:nvPr/>
        </p:nvSpPr>
        <p:spPr>
          <a:xfrm>
            <a:off x="3916335" y="2059688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3→2	1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A83E20E-3D60-ADAC-A154-6BA4C6C4A094}"/>
              </a:ext>
            </a:extLst>
          </p:cNvPr>
          <p:cNvSpPr txBox="1"/>
          <p:nvPr/>
        </p:nvSpPr>
        <p:spPr>
          <a:xfrm>
            <a:off x="3896992" y="2752984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5→3	2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A61DA09-343E-1494-D3C9-1FB77CE2B429}"/>
              </a:ext>
            </a:extLst>
          </p:cNvPr>
          <p:cNvSpPr txBox="1"/>
          <p:nvPr/>
        </p:nvSpPr>
        <p:spPr>
          <a:xfrm>
            <a:off x="3896992" y="4132396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6→5	1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8FFA7BC-713C-5577-BD7E-2C965F3186CA}"/>
              </a:ext>
            </a:extLst>
          </p:cNvPr>
          <p:cNvSpPr txBox="1"/>
          <p:nvPr/>
        </p:nvSpPr>
        <p:spPr>
          <a:xfrm>
            <a:off x="3916335" y="5511801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7→7	0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D7CB40-0F41-9843-A4AB-5ACA8A5F3C7B}"/>
              </a:ext>
            </a:extLst>
          </p:cNvPr>
          <p:cNvSpPr/>
          <p:nvPr/>
        </p:nvSpPr>
        <p:spPr>
          <a:xfrm>
            <a:off x="4766733" y="1316567"/>
            <a:ext cx="435531" cy="465689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FC5D30A-A768-FD23-DB42-92AB4073A8D1}"/>
              </a:ext>
            </a:extLst>
          </p:cNvPr>
          <p:cNvSpPr txBox="1"/>
          <p:nvPr/>
        </p:nvSpPr>
        <p:spPr>
          <a:xfrm>
            <a:off x="4835788" y="6071101"/>
            <a:ext cx="15055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加總為</a:t>
            </a:r>
            <a:endParaRPr lang="en-US" altLang="zh-TW" sz="20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l-GR" altLang="zh-TW" sz="2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Σ</a:t>
            </a:r>
            <a:r>
              <a:rPr lang="en-US" altLang="zh-TW" sz="2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4(1+2+1)</a:t>
            </a:r>
            <a:endParaRPr lang="zh-TW" altLang="en-US" sz="20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64608CD-F056-81CA-2A49-EDBD9DF4A366}"/>
              </a:ext>
            </a:extLst>
          </p:cNvPr>
          <p:cNvSpPr txBox="1"/>
          <p:nvPr/>
        </p:nvSpPr>
        <p:spPr>
          <a:xfrm>
            <a:off x="6518917" y="1600870"/>
            <a:ext cx="5224349" cy="3656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評量目標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交集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越多越好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加總差距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越小越好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最小化平均排名每個列入專利前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名內與事務所前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名有交集的排名加總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名的交集總數）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0695395-C0A3-CF7E-920C-D4363AE76FD7}"/>
              </a:ext>
            </a:extLst>
          </p:cNvPr>
          <p:cNvSpPr txBox="1"/>
          <p:nvPr/>
        </p:nvSpPr>
        <p:spPr>
          <a:xfrm>
            <a:off x="9592733" y="6425044"/>
            <a:ext cx="2433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zh-TW" altLang="en-US" b="1" dirty="0"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fastText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一樣做法</a:t>
            </a:r>
          </a:p>
        </p:txBody>
      </p:sp>
    </p:spTree>
    <p:extLst>
      <p:ext uri="{BB962C8B-B14F-4D97-AF65-F5344CB8AC3E}">
        <p14:creationId xmlns:p14="http://schemas.microsoft.com/office/powerpoint/2010/main" val="4055413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BE5D651-FB7F-443C-6C0A-A5FF4A66A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191" y="1085590"/>
            <a:ext cx="1491609" cy="113604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7B06BD6-C92F-299C-6D51-21318D4D7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689" y="609493"/>
            <a:ext cx="2289459" cy="142479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95BA205-4B00-62BB-C8D2-71348F1BE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831" y="2651118"/>
            <a:ext cx="2557185" cy="1582216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F7BDBF43-E08F-0622-01CA-88F550B7DD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923" y="2991843"/>
            <a:ext cx="3282620" cy="123275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414DB69-0529-B33E-B599-7F799640F9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724" y="4607804"/>
            <a:ext cx="2316659" cy="928306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F3D0B200-0350-5EB4-3143-42636673A5EA}"/>
              </a:ext>
            </a:extLst>
          </p:cNvPr>
          <p:cNvSpPr/>
          <p:nvPr/>
        </p:nvSpPr>
        <p:spPr>
          <a:xfrm>
            <a:off x="5401781" y="4932026"/>
            <a:ext cx="1911928" cy="1081248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比對相似度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ChatGPT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err="1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spaCy</a:t>
            </a:r>
            <a:endParaRPr lang="en-US" altLang="zh-TW" b="1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err="1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fastText</a:t>
            </a:r>
            <a:endParaRPr lang="en-US" altLang="zh-TW" b="1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2963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661</Words>
  <Application>Microsoft Office PowerPoint</Application>
  <PresentationFormat>寬螢幕</PresentationFormat>
  <Paragraphs>253</Paragraphs>
  <Slides>7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微軟正黑體</vt:lpstr>
      <vt:lpstr>PMingLiU</vt:lpstr>
      <vt:lpstr>PMingLiU</vt:lpstr>
      <vt:lpstr>Aptos</vt:lpstr>
      <vt:lpstr>Aptos Display</vt:lpstr>
      <vt:lpstr>Arial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怡萱 傅</dc:creator>
  <cp:lastModifiedBy>怡萱 傅</cp:lastModifiedBy>
  <cp:revision>98</cp:revision>
  <dcterms:created xsi:type="dcterms:W3CDTF">2024-06-24T09:42:10Z</dcterms:created>
  <dcterms:modified xsi:type="dcterms:W3CDTF">2024-07-05T03:23:04Z</dcterms:modified>
</cp:coreProperties>
</file>